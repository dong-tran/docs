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SOLID Principles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Foundation of Object-Oriented Design</a:t>
            </a:r>
          </a:p>
          <a:p/>
          <a:p>
            <a:r>
              <a:t>Presenter: Dong Tran</a:t>
            </a:r>
          </a:p>
          <a:p>
            <a:r>
              <a:t>Date: November 20,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Why SOLID Matters</a:t>
            </a:r>
          </a:p>
          <a:p>
            <a:pPr>
              <a:defRPr sz="1800"/>
            </a:pPr>
            <a:r>
              <a:t>2. Overview of SOLID Principles</a:t>
            </a:r>
          </a:p>
          <a:p>
            <a:pPr>
              <a:defRPr sz="1800"/>
            </a:pPr>
            <a:r>
              <a:t>3. S - Single Responsibility Principle</a:t>
            </a:r>
          </a:p>
          <a:p>
            <a:pPr>
              <a:defRPr sz="1800"/>
            </a:pPr>
            <a:r>
              <a:t>4. O - Open/Closed Principle</a:t>
            </a:r>
          </a:p>
          <a:p>
            <a:pPr>
              <a:defRPr sz="1800"/>
            </a:pPr>
            <a:r>
              <a:t>5. L - Liskov Substitution Principle</a:t>
            </a:r>
          </a:p>
          <a:p>
            <a:pPr>
              <a:defRPr sz="1800"/>
            </a:pPr>
            <a:r>
              <a:t>6. I - Interface Segregation Principle</a:t>
            </a:r>
          </a:p>
          <a:p>
            <a:pPr>
              <a:defRPr sz="1800"/>
            </a:pPr>
            <a:r>
              <a:t>7. D - Dependency Inversion Principle</a:t>
            </a:r>
          </a:p>
          <a:p>
            <a:pPr>
              <a:defRPr sz="1800"/>
            </a:pPr>
            <a:r>
              <a:t>8. Real-World Case Study</a:t>
            </a:r>
          </a:p>
          <a:p>
            <a:pPr>
              <a:defRPr sz="1800"/>
            </a:pPr>
            <a:r>
              <a:t>9. Common Violations &amp; How to Fix Them</a:t>
            </a:r>
          </a:p>
          <a:p>
            <a:pPr>
              <a:defRPr sz="1800"/>
            </a:pPr>
            <a:r>
              <a:t>10. Refactoring to SOLID</a:t>
            </a:r>
          </a:p>
          <a:p>
            <a:pPr>
              <a:defRPr sz="1800"/>
            </a:pPr>
            <a:r>
              <a:t>11. SOLID Metrics &amp; Benefits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 We Need SOLID?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Common Software Problems:</a:t>
            </a:r>
          </a:p>
          <a:p>
            <a:pPr lvl="1">
              <a:defRPr sz="1800"/>
            </a:pPr>
            <a:r>
              <a:t>🔴 Rigidity (Hard to change)</a:t>
            </a:r>
          </a:p>
          <a:p>
            <a:pPr lvl="1">
              <a:defRPr sz="1800"/>
            </a:pPr>
            <a:r>
              <a:t>🔴 Fragility (Breaks easily)</a:t>
            </a:r>
          </a:p>
          <a:p>
            <a:pPr lvl="1">
              <a:defRPr sz="1800"/>
            </a:pPr>
            <a:r>
              <a:t>🔴 Immobility (Hard to reuse)</a:t>
            </a:r>
          </a:p>
          <a:p>
            <a:pPr lvl="1">
              <a:defRPr sz="1800"/>
            </a:pPr>
            <a:r>
              <a:t>🔴 Complexity (Over-engineered)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The Cost:</a:t>
            </a:r>
          </a:p>
          <a:p>
            <a:pPr lvl="1">
              <a:defRPr sz="1800"/>
            </a:pPr>
            <a:r>
              <a:t>- 42% developer time spent on technical debt</a:t>
            </a:r>
          </a:p>
          <a:p>
            <a:pPr lvl="1">
              <a:defRPr sz="1800"/>
            </a:pPr>
            <a:r>
              <a:t>- 4x more bugs in tightly coupled code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SOLID Promise:</a:t>
            </a:r>
          </a:p>
          <a:p>
            <a:pPr lvl="1">
              <a:defRPr sz="1800"/>
            </a:pPr>
            <a:r>
              <a:t>✅ Maintainable, Flexible, Testable, Reusable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SOLID?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Five design principles by Robert C. Martin (Uncle Bob):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 - Single Responsibility Principle</a:t>
            </a:r>
          </a:p>
          <a:p>
            <a:pPr>
              <a:defRPr sz="1800"/>
            </a:pPr>
            <a:r>
              <a:t>O - Open/Closed Principle</a:t>
            </a:r>
          </a:p>
          <a:p>
            <a:pPr>
              <a:defRPr sz="1800"/>
            </a:pPr>
            <a:r>
              <a:t>L - Liskov Substitution Principle</a:t>
            </a:r>
          </a:p>
          <a:p>
            <a:pPr>
              <a:defRPr sz="1800"/>
            </a:pPr>
            <a:r>
              <a:t>I - Interface Segregation Principle</a:t>
            </a:r>
          </a:p>
          <a:p>
            <a:pPr>
              <a:defRPr sz="1800"/>
            </a:pPr>
            <a:r>
              <a:t>D - Dependency Inversion Principle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Goal: Transform tightly coupled code into loosely coupled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 - Single Responsibility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"A class should have only one reason to change"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// Bad: Multiple reasons to change</a:t>
            </a:r>
            <a:br/>
            <a:r>
              <a:t>type Employee struct {</a:t>
            </a:r>
            <a:br/>
            <a:r>
              <a:t>    Name   string</a:t>
            </a:r>
            <a:br/>
            <a:r>
              <a:t>    Salary float64</a:t>
            </a:r>
            <a:br/>
            <a:r>
              <a:t>}</a:t>
            </a:r>
            <a:br/>
            <a:br/>
            <a:r>
              <a:t>// Reason 1: Business logic</a:t>
            </a:r>
            <a:br/>
            <a:r>
              <a:t>func (e *Employee) CalculatePay() float64 { ... }</a:t>
            </a:r>
            <a:br/>
            <a:br/>
            <a:r>
              <a:t>// Reason 2: Persistence logic</a:t>
            </a:r>
            <a:br/>
            <a:r>
              <a:t>func (e *Employee) SaveToDatabase() error { ... }</a:t>
            </a:r>
            <a:br/>
            <a:br/>
            <a:r>
              <a:t>// Reason 3: Reporting logic</a:t>
            </a:r>
            <a:br/>
            <a:r>
              <a:t>func (e *Employee) GenerateReport() string { ... 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SRP - Correct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// Good: Separated Responsibilities</a:t>
            </a:r>
            <a:br/>
            <a:br/>
            <a:r>
              <a:t>// 1. Entity (Data)</a:t>
            </a:r>
            <a:br/>
            <a:r>
              <a:t>type Employee struct { Name string; Salary float64 }</a:t>
            </a:r>
            <a:br/>
            <a:br/>
            <a:r>
              <a:t>// 2. Business Logic</a:t>
            </a:r>
            <a:br/>
            <a:r>
              <a:t>type PayrollService struct {}</a:t>
            </a:r>
            <a:br/>
            <a:r>
              <a:t>func (p *PayrollService) CalculatePay(e Employee) float64 { ... }</a:t>
            </a:r>
            <a:br/>
            <a:br/>
            <a:r>
              <a:t>// 3. Persistence</a:t>
            </a:r>
            <a:br/>
            <a:r>
              <a:t>type EmployeeRepository struct {}</a:t>
            </a:r>
            <a:br/>
            <a:r>
              <a:t>func (r *EmployeeRepository) Save(e Employee) error { ... }</a:t>
            </a:r>
            <a:br/>
            <a:br/>
            <a:r>
              <a:t>// 4. Reporting</a:t>
            </a:r>
            <a:br/>
            <a:r>
              <a:t>type ReportGenerator struct {}</a:t>
            </a:r>
            <a:br/>
            <a:r>
              <a:t>func (g *ReportGenerator) Generate(e Employee) string { ...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- Open/Closed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"Software entities should be open for extension but closed for modification"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// Good: Open for extension, closed for modification</a:t>
            </a:r>
            <a:br/>
            <a:br/>
            <a:r>
              <a:t>type Shape interface { Area() float64 }</a:t>
            </a:r>
            <a:br/>
            <a:br/>
            <a:r>
              <a:t>type Rectangle struct { W, H float64 }</a:t>
            </a:r>
            <a:br/>
            <a:r>
              <a:t>func (r Rectangle) Area() float64 { return r.W * r.H }</a:t>
            </a:r>
            <a:br/>
            <a:br/>
            <a:r>
              <a:t>type Circle struct { R float64 }</a:t>
            </a:r>
            <a:br/>
            <a:r>
              <a:t>func (c Circle) Area() float64 { return math.Pi * c.R * c.R }</a:t>
            </a:r>
            <a:br/>
            <a:br/>
            <a:r>
              <a:t>// Adding Triangle doesn't modify existing code!</a:t>
            </a:r>
            <a:br/>
            <a:r>
              <a:t>type Triangle struct { B, H float64 }</a:t>
            </a:r>
            <a:br/>
            <a:r>
              <a:t>func (t Triangle) Area() float64 { return 0.5 * t.B * t.H }</a:t>
            </a:r>
            <a:br/>
            <a:br/>
            <a:r>
              <a:t>func CalculateTotalArea(shapes []Shape) float64 {</a:t>
            </a:r>
            <a:br/>
            <a:r>
              <a:t>    total := 0.0</a:t>
            </a:r>
            <a:br/>
            <a:r>
              <a:t>    for _, s := range shapes { total += s.Area() }</a:t>
            </a:r>
            <a:br/>
            <a:r>
              <a:t>    return total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 - Liskov Substitution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"Subtypes must be substitutable for their base types without altering correctness"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// Violation: Square breaks Rectangle behavior</a:t>
            </a:r>
            <a:br/>
            <a:r>
              <a:t>type Rectangle struct { W, H float64 }</a:t>
            </a:r>
            <a:br/>
            <a:r>
              <a:t>func (r *Rectangle) SetWidth(w float64) { r.W = w }</a:t>
            </a:r>
            <a:br/>
            <a:br/>
            <a:r>
              <a:t>type Square struct { Rectangle }</a:t>
            </a:r>
            <a:br/>
            <a:r>
              <a:t>// Breaking LSP! Modifying width changes height unexpectedly</a:t>
            </a:r>
            <a:br/>
            <a:r>
              <a:t>func (s *Square) SetWidth(w float64) {</a:t>
            </a:r>
            <a:br/>
            <a:r>
              <a:t>    s.W = w; s.H = w </a:t>
            </a:r>
            <a:br/>
            <a:r>
              <a:t>}</a:t>
            </a:r>
            <a:br/>
            <a:br/>
            <a:r>
              <a:t>// Correct: Use abstraction</a:t>
            </a:r>
            <a:br/>
            <a:r>
              <a:t>type Shape interface { Area() float64 }</a:t>
            </a:r>
            <a:br/>
            <a:r>
              <a:t>// Rectangle and Square implement Shape independently</a:t>
            </a:r>
            <a:b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 - Interface Segregation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"Clients should not be forced to depend on methods they don't use"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// Bad: Fat Interface</a:t>
            </a:r>
            <a:br/>
            <a:r>
              <a:t>type Worker interface {</a:t>
            </a:r>
            <a:br/>
            <a:r>
              <a:t>    Work(); Eat(); Sleep()</a:t>
            </a:r>
            <a:br/>
            <a:r>
              <a:t>}</a:t>
            </a:r>
            <a:br/>
            <a:br/>
            <a:r>
              <a:t>// Robot forced to implement Eat() and Sleep()</a:t>
            </a:r>
            <a:br/>
            <a:r>
              <a:t>type Robot struct {}</a:t>
            </a:r>
            <a:br/>
            <a:r>
              <a:t>func (r Robot) Eat() { panic("Robots don't eat") }</a:t>
            </a:r>
            <a:br/>
            <a:br/>
            <a:r>
              <a:t>// Good: Segregated Interfaces</a:t>
            </a:r>
            <a:br/>
            <a:r>
              <a:t>type Worker interface { Work() }</a:t>
            </a:r>
            <a:br/>
            <a:r>
              <a:t>type Eater interface { Eat() }</a:t>
            </a:r>
            <a:br/>
            <a:br/>
            <a:r>
              <a:t>// Robot only implements what it needs</a:t>
            </a:r>
            <a:br/>
            <a:r>
              <a:t>type Robot struct {}</a:t>
            </a:r>
            <a:br/>
            <a:r>
              <a:t>func (r Robot) Work() { ... }</a:t>
            </a:r>
            <a:b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 - Dependency Inversion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"Depend on abstractions, not on concrete implementations"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48840"/>
            <a:ext cx="8229600" cy="3977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// Bad: High-level depends on Low-level</a:t>
            </a:r>
            <a:br/>
            <a:r>
              <a:t>type UserService struct {</a:t>
            </a:r>
            <a:br/>
            <a:r>
              <a:t>    db *MySQLDatabase // Concrete implementation</a:t>
            </a:r>
            <a:br/>
            <a:r>
              <a:t>}</a:t>
            </a:r>
            <a:br/>
            <a:br/>
            <a:r>
              <a:t>// Good: Both depend on Abstraction</a:t>
            </a:r>
            <a:br/>
            <a:r>
              <a:t>type UserRepository interface {</a:t>
            </a:r>
            <a:br/>
            <a:r>
              <a:t>    Save(user *User) error</a:t>
            </a:r>
            <a:br/>
            <a:r>
              <a:t>}</a:t>
            </a:r>
            <a:br/>
            <a:br/>
            <a:r>
              <a:t>type UserService struct {</a:t>
            </a:r>
            <a:br/>
            <a:r>
              <a:t>    repo UserRepository // Depends on interface</a:t>
            </a:r>
            <a:br/>
            <a:r>
              <a:t>}</a:t>
            </a:r>
            <a:br/>
            <a:br/>
            <a:r>
              <a:t>// Now we can inject ANY implementation (MySQL, Mongo, Mock)</a:t>
            </a:r>
            <a:br/>
            <a:r>
              <a:t>func NewUserService(repo UserRepository) *UserService {</a:t>
            </a:r>
            <a:br/>
            <a:r>
              <a:t>    return &amp;UserService{repo: repo}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Case Study: Payment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000">
                <a:solidFill>
                  <a:srgbClr val="323232"/>
                </a:solidFill>
                <a:latin typeface="Consolas"/>
              </a:defRPr>
            </a:pPr>
            <a:r>
              <a:t>// Payment Service using SOLID</a:t>
            </a:r>
            <a:br/>
            <a:br/>
            <a:r>
              <a:t>// 1. ISP &amp; DIP: Interfaces</a:t>
            </a:r>
            <a:br/>
            <a:r>
              <a:t>type PaymentGateway interface { Process(*Payment) error }</a:t>
            </a:r>
            <a:br/>
            <a:r>
              <a:t>type Notifier interface { Notify(*Payment) error }</a:t>
            </a:r>
            <a:br/>
            <a:br/>
            <a:r>
              <a:t>// 2. SRP: Orchestrator</a:t>
            </a:r>
            <a:br/>
            <a:r>
              <a:t>type PaymentService struct {</a:t>
            </a:r>
            <a:br/>
            <a:r>
              <a:t>    gateway  PaymentGateway</a:t>
            </a:r>
            <a:br/>
            <a:r>
              <a:t>    notifier Notifier</a:t>
            </a:r>
            <a:br/>
            <a:r>
              <a:t>}</a:t>
            </a:r>
            <a:br/>
            <a:br/>
            <a:r>
              <a:t>// 3. OCP: Easy to add new Gateways (Stripe, PayPal)</a:t>
            </a:r>
            <a:br/>
            <a:r>
              <a:t>type StripeGateway struct {}</a:t>
            </a:r>
            <a:br/>
            <a:r>
              <a:t>func (s *StripeGateway) Process(p *Payment) error { ... }</a:t>
            </a:r>
            <a:br/>
            <a:br/>
            <a:r>
              <a:t>// 4. LSP: All gateways behave consistently</a:t>
            </a:r>
            <a:br/>
            <a:r>
              <a:t>func (s *PaymentService) Pay(p *Payment) error {</a:t>
            </a:r>
            <a:br/>
            <a:r>
              <a:t>    if err := s.gateway.Process(p); err != nil { return err }</a:t>
            </a:r>
            <a:br/>
            <a:r>
              <a:t>    s.notifier.Notify(p)</a:t>
            </a:r>
            <a:br/>
            <a:r>
              <a:t>    return nil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Refactoring to SOLID: A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Step 1: Extract Entity (SRP)</a:t>
            </a:r>
          </a:p>
          <a:p>
            <a:pPr>
              <a:defRPr sz="1800"/>
            </a:pPr>
            <a:r>
              <a:t>Step 2: Create Repository Interface (DIP + SRP)</a:t>
            </a:r>
          </a:p>
          <a:p>
            <a:pPr>
              <a:defRPr sz="1800"/>
            </a:pPr>
            <a:r>
              <a:t>Step 3: Create Service Interfaces (ISP)</a:t>
            </a:r>
          </a:p>
          <a:p>
            <a:pPr>
              <a:defRPr sz="1800"/>
            </a:pPr>
            <a:r>
              <a:t>Step 4: Implement Services (SRP)</a:t>
            </a:r>
          </a:p>
          <a:p>
            <a:pPr>
              <a:defRPr sz="1800"/>
            </a:pPr>
            <a:r>
              <a:t>Step 5: Use Dependency Injection (DIP)</a:t>
            </a:r>
          </a:p>
          <a:p>
            <a:pPr>
              <a:defRPr sz="1800"/>
            </a:pPr>
            <a:r>
              <a:t>Step 6: Wire everything together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SOLID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Metrics Improvement:</a:t>
            </a:r>
          </a:p>
          <a:p>
            <a:pPr lvl="1">
              <a:defRPr sz="1800"/>
            </a:pPr>
            <a:r>
              <a:t>✅ Bug Density: 80% reduction</a:t>
            </a:r>
          </a:p>
          <a:p>
            <a:pPr lvl="1">
              <a:defRPr sz="1800"/>
            </a:pPr>
            <a:r>
              <a:t>✅ Test Coverage: 171% increase</a:t>
            </a:r>
          </a:p>
          <a:p>
            <a:pPr lvl="1">
              <a:defRPr sz="1800"/>
            </a:pPr>
            <a:r>
              <a:t>✅ Build Time: 87% faster</a:t>
            </a:r>
          </a:p>
          <a:p>
            <a:pPr lvl="1">
              <a:defRPr sz="1800"/>
            </a:pPr>
            <a:r>
              <a:t>✅ Deploy Frequency: 30x increase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ROI:</a:t>
            </a:r>
          </a:p>
          <a:p>
            <a:pPr lvl="1">
              <a:defRPr sz="1800"/>
            </a:pPr>
            <a:r>
              <a:t>- Reduced technical debt</a:t>
            </a:r>
          </a:p>
          <a:p>
            <a:pPr lvl="1">
              <a:defRPr sz="1800"/>
            </a:pPr>
            <a:r>
              <a:t>- Faster onboarding for new developers</a:t>
            </a:r>
          </a:p>
          <a:p>
            <a:pPr lvl="1">
              <a:defRPr sz="1800"/>
            </a:pPr>
            <a:r>
              <a:t>- Lower maintenance costs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Q&amp;A Session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Resources:</a:t>
            </a:r>
          </a:p>
          <a:p>
            <a:pPr lvl="1">
              <a:defRPr sz="1800"/>
            </a:pPr>
            <a:r>
              <a:t>- 'Clean Architecture' by Robert C. Martin</a:t>
            </a:r>
          </a:p>
          <a:p>
            <a:pPr lvl="1">
              <a:defRPr sz="1800"/>
            </a:pPr>
            <a:r>
              <a:t>- 'Design Patterns: Elements of Reusable Object-Oriented Software'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Presenter: Dong Tran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