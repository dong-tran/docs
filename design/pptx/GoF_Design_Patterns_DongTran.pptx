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Gang of Four Design Patterns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23 Classic Solutions to Recurring Design Problems</a:t>
            </a:r>
          </a:p>
          <a:p/>
          <a:p>
            <a:r>
              <a:t>Presenter: Dong Tran</a:t>
            </a:r>
          </a:p>
          <a:p>
            <a:r>
              <a:t>Date: November 20,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Introduction to Design Patterns</a:t>
            </a:r>
          </a:p>
          <a:p>
            <a:pPr>
              <a:defRPr sz="1800"/>
            </a:pPr>
            <a:r>
              <a:t>2. History and the Gang of Four</a:t>
            </a:r>
          </a:p>
          <a:p>
            <a:pPr>
              <a:defRPr sz="1800"/>
            </a:pPr>
            <a:r>
              <a:t>3. Pattern Categories Overview</a:t>
            </a:r>
          </a:p>
          <a:p>
            <a:pPr>
              <a:defRPr sz="1800"/>
            </a:pPr>
            <a:r>
              <a:t>4. Creational Patterns (Singleton, Factory, Builder...)</a:t>
            </a:r>
          </a:p>
          <a:p>
            <a:pPr>
              <a:defRPr sz="1800"/>
            </a:pPr>
            <a:r>
              <a:t>5. Structural Patterns (Adapter, Bridge, Decorator...)</a:t>
            </a:r>
          </a:p>
          <a:p>
            <a:pPr>
              <a:defRPr sz="1800"/>
            </a:pPr>
            <a:r>
              <a:t>6. Behavioral Patterns (Observer, Strategy...)</a:t>
            </a:r>
          </a:p>
          <a:p>
            <a:pPr>
              <a:defRPr sz="1800"/>
            </a:pPr>
            <a:r>
              <a:t>7. Patterns in Modern Go</a:t>
            </a:r>
          </a:p>
          <a:p>
            <a:pPr>
              <a:defRPr sz="1800"/>
            </a:pPr>
            <a:r>
              <a:t>8. Real-World Case Study</a:t>
            </a:r>
          </a:p>
          <a:p>
            <a:pPr>
              <a:defRPr sz="1800"/>
            </a:pPr>
            <a:r>
              <a:t>9. Q&amp;A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Design Patterns?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Definition:</a:t>
            </a:r>
          </a:p>
          <a:p>
            <a:pPr lvl="1">
              <a:defRPr sz="1800"/>
            </a:pPr>
            <a:r>
              <a:t>Reusable solutions to commonly occurring problems in software design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What Patterns Are:</a:t>
            </a:r>
          </a:p>
          <a:p>
            <a:pPr lvl="1">
              <a:defRPr sz="1800"/>
            </a:pPr>
            <a:r>
              <a:t>✅ Templates for solving problems</a:t>
            </a:r>
          </a:p>
          <a:p>
            <a:pPr lvl="1">
              <a:defRPr sz="1800"/>
            </a:pPr>
            <a:r>
              <a:t>✅ Communication tools between developers</a:t>
            </a:r>
          </a:p>
          <a:p>
            <a:pPr lvl="1">
              <a:defRPr sz="1800"/>
            </a:pPr>
            <a:r>
              <a:t>✅ Best practices distilled from experience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What Patterns Are NOT:</a:t>
            </a:r>
          </a:p>
          <a:p>
            <a:pPr lvl="1">
              <a:defRPr sz="1800"/>
            </a:pPr>
            <a:r>
              <a:t>❌ Copy-paste code solutions</a:t>
            </a:r>
          </a:p>
          <a:p>
            <a:pPr lvl="1">
              <a:defRPr sz="1800"/>
            </a:pPr>
            <a:r>
              <a:t>❌ Silver bullets for all problems</a:t>
            </a:r>
          </a:p>
          <a:p>
            <a:pPr lvl="1">
              <a:defRPr sz="1800"/>
            </a:pPr>
            <a:r>
              <a:t>❌ Mandatory for good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Gang of Four (GoF)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Book (1994):</a:t>
            </a:r>
          </a:p>
          <a:p>
            <a:pPr lvl="1">
              <a:defRPr sz="1800"/>
            </a:pPr>
            <a:r>
              <a:t>'Design Patterns: Elements of Reusable Object-Oriented Software'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The Authors:</a:t>
            </a:r>
          </a:p>
          <a:p>
            <a:pPr lvl="1">
              <a:defRPr sz="1800"/>
            </a:pPr>
            <a:r>
              <a:t>- Erich Gamma</a:t>
            </a:r>
          </a:p>
          <a:p>
            <a:pPr lvl="1">
              <a:defRPr sz="1800"/>
            </a:pPr>
            <a:r>
              <a:t>- Richard Helm</a:t>
            </a:r>
          </a:p>
          <a:p>
            <a:pPr lvl="1">
              <a:defRPr sz="1800"/>
            </a:pPr>
            <a:r>
              <a:t>- Ralph Johnson</a:t>
            </a:r>
          </a:p>
          <a:p>
            <a:pPr lvl="1">
              <a:defRPr sz="1800"/>
            </a:pPr>
            <a:r>
              <a:t>- John Vlissides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Impact:</a:t>
            </a:r>
          </a:p>
          <a:p>
            <a:pPr lvl="1">
              <a:defRPr sz="1800"/>
            </a:pPr>
            <a:r>
              <a:t>- Foundation of modern OOP design</a:t>
            </a:r>
          </a:p>
          <a:p>
            <a:pPr lvl="1">
              <a:defRPr sz="1800"/>
            </a:pPr>
            <a:r>
              <a:t>- Established common vocabulary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Categories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Creational Patterns (5)</a:t>
            </a:r>
          </a:p>
          <a:p>
            <a:pPr lvl="1">
              <a:defRPr sz="1800"/>
            </a:pPr>
            <a:r>
              <a:t>- Focus: Object Creation mechanisms</a:t>
            </a:r>
          </a:p>
          <a:p>
            <a:pPr lvl="1">
              <a:defRPr sz="1800"/>
            </a:pPr>
            <a:r>
              <a:t>- Why: Decouple client from instantiation logic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Structural Patterns (7)</a:t>
            </a:r>
          </a:p>
          <a:p>
            <a:pPr lvl="1">
              <a:defRPr sz="1800"/>
            </a:pPr>
            <a:r>
              <a:t>- Focus: Object Composition</a:t>
            </a:r>
          </a:p>
          <a:p>
            <a:pPr lvl="1">
              <a:defRPr sz="1800"/>
            </a:pPr>
            <a:r>
              <a:t>- Why: Compose classes/objects for larger structures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Behavioral Patterns (11)</a:t>
            </a:r>
          </a:p>
          <a:p>
            <a:pPr lvl="1">
              <a:defRPr sz="1800"/>
            </a:pPr>
            <a:r>
              <a:t>- Focus: Object Collaboration &amp; Responsibility</a:t>
            </a:r>
          </a:p>
          <a:p>
            <a:pPr lvl="1">
              <a:defRPr sz="1800"/>
            </a:pPr>
            <a:r>
              <a:t>- Why: Define communication between objects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Creational: Singleton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Intent: Ensure a class has only one instance and provide global access to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>
                <a:solidFill>
                  <a:srgbClr val="323232"/>
                </a:solidFill>
                <a:latin typeface="Consolas"/>
              </a:defRPr>
            </a:pPr>
            <a:r>
              <a:t>// Better approach in Go - using package initialization</a:t>
            </a:r>
            <a:br/>
            <a:r>
              <a:t>package config</a:t>
            </a:r>
            <a:br/>
            <a:br/>
            <a:r>
              <a:t>var Config *AppConfig</a:t>
            </a:r>
            <a:br/>
            <a:r>
              <a:t>var once sync.Once</a:t>
            </a:r>
            <a:br/>
            <a:br/>
            <a:r>
              <a:t>type AppConfig struct {</a:t>
            </a:r>
            <a:br/>
            <a:r>
              <a:t>    DatabaseURL string</a:t>
            </a:r>
            <a:br/>
            <a:r>
              <a:t>    APIKey      string</a:t>
            </a:r>
            <a:br/>
            <a:r>
              <a:t>}</a:t>
            </a:r>
            <a:br/>
            <a:br/>
            <a:r>
              <a:t>func GetInstance() *AppConfig {</a:t>
            </a:r>
            <a:br/>
            <a:r>
              <a:t>    once.Do(func() {</a:t>
            </a:r>
            <a:br/>
            <a:r>
              <a:t>        Config = &amp;AppConfig{</a:t>
            </a:r>
            <a:br/>
            <a:r>
              <a:t>            DatabaseURL: "localhost:5432",</a:t>
            </a:r>
            <a:br/>
            <a:r>
              <a:t>        }</a:t>
            </a:r>
            <a:br/>
            <a:r>
              <a:t>    })</a:t>
            </a:r>
            <a:br/>
            <a:r>
              <a:t>    return Config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Creational: Factory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Intent: Define interface for creating objects, let subclasses decide instantiation.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>
                <a:solidFill>
                  <a:srgbClr val="323232"/>
                </a:solidFill>
                <a:latin typeface="Consolas"/>
              </a:defRPr>
            </a:pPr>
            <a:r>
              <a:t>type Vehicle interface { Drive() string }</a:t>
            </a:r>
            <a:br/>
            <a:br/>
            <a:r>
              <a:t>type Car struct { model string }</a:t>
            </a:r>
            <a:br/>
            <a:r>
              <a:t>func (c *Car) Drive() string { return "Driving car" }</a:t>
            </a:r>
            <a:br/>
            <a:br/>
            <a:r>
              <a:t>type VehicleFactory interface {</a:t>
            </a:r>
            <a:br/>
            <a:r>
              <a:t>    CreateVehicle(model string) Vehicle</a:t>
            </a:r>
            <a:br/>
            <a:r>
              <a:t>}</a:t>
            </a:r>
            <a:br/>
            <a:br/>
            <a:r>
              <a:t>type CarFactory struct{}</a:t>
            </a:r>
            <a:br/>
            <a:r>
              <a:t>func (f *CarFactory) CreateVehicle(model string) Vehicle {</a:t>
            </a:r>
            <a:br/>
            <a:r>
              <a:t>    return &amp;Car{model: model}</a:t>
            </a:r>
            <a:br/>
            <a:r>
              <a:t>}</a:t>
            </a:r>
            <a:br/>
            <a:br/>
            <a:r>
              <a:t>// Client usage</a:t>
            </a:r>
            <a:br/>
            <a:r>
              <a:t>factory := &amp;CarFactory{}</a:t>
            </a:r>
            <a:br/>
            <a:r>
              <a:t>car := factory.CreateVehicle("Tesla")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Creational: Abstract Factory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Intent: Provide interface for creating families of related objects.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>
                <a:solidFill>
                  <a:srgbClr val="323232"/>
                </a:solidFill>
                <a:latin typeface="Consolas"/>
              </a:defRPr>
            </a:pPr>
            <a:r>
              <a:t>type UIFactory interface {</a:t>
            </a:r>
            <a:br/>
            <a:r>
              <a:t>    CreateButton() Button</a:t>
            </a:r>
            <a:br/>
            <a:r>
              <a:t>    CreateCheckbox() Checkbox</a:t>
            </a:r>
            <a:br/>
            <a:r>
              <a:t>}</a:t>
            </a:r>
            <a:br/>
            <a:br/>
            <a:r>
              <a:t>// Material Design Factory</a:t>
            </a:r>
            <a:br/>
            <a:r>
              <a:t>type MaterialUIFactory struct{}</a:t>
            </a:r>
            <a:br/>
            <a:r>
              <a:t>func (f *MaterialUIFactory) CreateButton() Button { return &amp;MaterialButton{} }</a:t>
            </a:r>
            <a:br/>
            <a:r>
              <a:t>func (f *MaterialUIFactory) CreateCheckbox() Checkbox { return &amp;MaterialCheckbox{} }</a:t>
            </a:r>
            <a:br/>
            <a:br/>
            <a:r>
              <a:t>// iOS Design Factory</a:t>
            </a:r>
            <a:br/>
            <a:r>
              <a:t>type IOSUIFactory struct{}</a:t>
            </a:r>
            <a:br/>
            <a:r>
              <a:t>func (f *IOSUIFactory) CreateButton() Button { return &amp;IOSButton{}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Creational: Builder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Intent: Separate construction of complex object from its representation.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>
                <a:solidFill>
                  <a:srgbClr val="323232"/>
                </a:solidFill>
                <a:latin typeface="Consolas"/>
              </a:defRPr>
            </a:pPr>
            <a:r>
              <a:t>type QueryBuilder struct {</a:t>
            </a:r>
            <a:br/>
            <a:r>
              <a:t>    query *SQLQuery</a:t>
            </a:r>
            <a:br/>
            <a:r>
              <a:t>}</a:t>
            </a:r>
            <a:br/>
            <a:br/>
            <a:r>
              <a:t>func (b *QueryBuilder) Select(cols ...string) *QueryBuilder {</a:t>
            </a:r>
            <a:br/>
            <a:r>
              <a:t>    b.query.selectClause = cols</a:t>
            </a:r>
            <a:br/>
            <a:r>
              <a:t>    return b</a:t>
            </a:r>
            <a:br/>
            <a:r>
              <a:t>}</a:t>
            </a:r>
            <a:br/>
            <a:r>
              <a:t>func (b *QueryBuilder) From(table string) *QueryBuilder {</a:t>
            </a:r>
            <a:br/>
            <a:r>
              <a:t>    b.query.fromClause = table</a:t>
            </a:r>
            <a:br/>
            <a:r>
              <a:t>    return b</a:t>
            </a:r>
            <a:br/>
            <a:r>
              <a:t>}</a:t>
            </a:r>
            <a:br/>
            <a:br/>
            <a:r>
              <a:t>// Usage</a:t>
            </a:r>
            <a:br/>
            <a:r>
              <a:t>query := NewQueryBuilder().</a:t>
            </a:r>
            <a:br/>
            <a:r>
              <a:t>    Select("id", "name").</a:t>
            </a:r>
            <a:br/>
            <a:r>
              <a:t>    From("users").</a:t>
            </a:r>
            <a:br/>
            <a:r>
              <a:t>    Where("active = true").</a:t>
            </a:r>
            <a:br/>
            <a:r>
              <a:t>    Build()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Creational: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Intent: Create new objects by cloning existing instance.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>
                <a:solidFill>
                  <a:srgbClr val="323232"/>
                </a:solidFill>
                <a:latin typeface="Consolas"/>
              </a:defRPr>
            </a:pPr>
            <a:r>
              <a:t>type Document struct {</a:t>
            </a:r>
            <a:br/>
            <a:r>
              <a:t>    Title   string</a:t>
            </a:r>
            <a:br/>
            <a:r>
              <a:t>    Content string</a:t>
            </a:r>
            <a:br/>
            <a:r>
              <a:t>}</a:t>
            </a:r>
            <a:br/>
            <a:br/>
            <a:r>
              <a:t>func (d *Document) Clone() *Document {</a:t>
            </a:r>
            <a:br/>
            <a:r>
              <a:t>    // Shallow copy</a:t>
            </a:r>
            <a:br/>
            <a:r>
              <a:t>    cloned := *d</a:t>
            </a:r>
            <a:br/>
            <a:r>
              <a:t>    return &amp;cloned</a:t>
            </a:r>
            <a:br/>
            <a:r>
              <a:t>}</a:t>
            </a:r>
            <a:br/>
            <a:br/>
            <a:r>
              <a:t>// Usage</a:t>
            </a:r>
            <a:br/>
            <a:r>
              <a:t>original := &amp;Document{Title: "Template"}</a:t>
            </a:r>
            <a:br/>
            <a:r>
              <a:t>copy := original.Clone()</a:t>
            </a:r>
            <a:br/>
            <a:r>
              <a:t>copy.Title = "New Doc"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Structural: Adapter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Intent: Convert interface of a class into another interface clients expect.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>
                <a:solidFill>
                  <a:srgbClr val="323232"/>
                </a:solidFill>
                <a:latin typeface="Consolas"/>
              </a:defRPr>
            </a:pPr>
            <a:r>
              <a:t>// Target interface</a:t>
            </a:r>
            <a:br/>
            <a:r>
              <a:t>type PaymentProcessor interface { Process(amount float64) }</a:t>
            </a:r>
            <a:br/>
            <a:br/>
            <a:r>
              <a:t>// Adaptee (Legacy)</a:t>
            </a:r>
            <a:br/>
            <a:r>
              <a:t>type LegacySystem struct{}</a:t>
            </a:r>
            <a:br/>
            <a:r>
              <a:t>func (l *LegacySystem) MakePayment(amt float64, currency string) { ... }</a:t>
            </a:r>
            <a:br/>
            <a:br/>
            <a:r>
              <a:t>// Adapter</a:t>
            </a:r>
            <a:br/>
            <a:r>
              <a:t>type LegacyAdapter struct {</a:t>
            </a:r>
            <a:br/>
            <a:r>
              <a:t>    legacy *LegacySystem</a:t>
            </a:r>
            <a:br/>
            <a:r>
              <a:t>}</a:t>
            </a:r>
            <a:br/>
            <a:br/>
            <a:r>
              <a:t>func (a *LegacyAdapter) Process(amount float64) {</a:t>
            </a:r>
            <a:br/>
            <a:r>
              <a:t>    a.legacy.MakePayment(amount, "USD")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Structural: Bridge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Intent: Decouple abstraction from implementation so both vary independently.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>
                <a:solidFill>
                  <a:srgbClr val="323232"/>
                </a:solidFill>
                <a:latin typeface="Consolas"/>
              </a:defRPr>
            </a:pPr>
            <a:r>
              <a:t>// Abstraction</a:t>
            </a:r>
            <a:br/>
            <a:r>
              <a:t>type Notification struct {</a:t>
            </a:r>
            <a:br/>
            <a:r>
              <a:t>    sender MessageSender</a:t>
            </a:r>
            <a:br/>
            <a:r>
              <a:t>}</a:t>
            </a:r>
            <a:br/>
            <a:r>
              <a:t>func (n *Notification) Send(msg string) { n.sender.SendMessage(msg) }</a:t>
            </a:r>
            <a:br/>
            <a:br/>
            <a:r>
              <a:t>// Implementation Interface</a:t>
            </a:r>
            <a:br/>
            <a:r>
              <a:t>type MessageSender interface { SendMessage(body string) }</a:t>
            </a:r>
            <a:br/>
            <a:br/>
            <a:r>
              <a:t>// Concrete Implementations</a:t>
            </a:r>
            <a:br/>
            <a:r>
              <a:t>type EmailSender struct{}</a:t>
            </a:r>
            <a:br/>
            <a:r>
              <a:t>func (e *EmailSender) SendMessage(body string) { fmt.Println("Email:", body) }</a:t>
            </a:r>
            <a:br/>
            <a:br/>
            <a:r>
              <a:t>type SlackSender struct{}</a:t>
            </a:r>
            <a:br/>
            <a:r>
              <a:t>func (s *SlackSender) SendMessage(body string) { fmt.Println("Slack:", body)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Structural: Composite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Intent: Compose objects into tree structures to represent part-whole hierarchies.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>
                <a:solidFill>
                  <a:srgbClr val="323232"/>
                </a:solidFill>
                <a:latin typeface="Consolas"/>
              </a:defRPr>
            </a:pPr>
            <a:r>
              <a:t>type Node interface {</a:t>
            </a:r>
            <a:br/>
            <a:r>
              <a:t>    GetSize() int64</a:t>
            </a:r>
            <a:br/>
            <a:r>
              <a:t>}</a:t>
            </a:r>
            <a:br/>
            <a:br/>
            <a:r>
              <a:t>type File struct { size int64 }</a:t>
            </a:r>
            <a:br/>
            <a:r>
              <a:t>func (f *File) GetSize() int64 { return f.size }</a:t>
            </a:r>
            <a:br/>
            <a:br/>
            <a:r>
              <a:t>type Directory struct {</a:t>
            </a:r>
            <a:br/>
            <a:r>
              <a:t>    children []Node</a:t>
            </a:r>
            <a:br/>
            <a:r>
              <a:t>}</a:t>
            </a:r>
            <a:br/>
            <a:r>
              <a:t>func (d *Directory) GetSize() int64 {</a:t>
            </a:r>
            <a:br/>
            <a:r>
              <a:t>    var total int64</a:t>
            </a:r>
            <a:br/>
            <a:r>
              <a:t>    for _, c := range d.children { total += c.GetSize() }</a:t>
            </a:r>
            <a:br/>
            <a:r>
              <a:t>    return total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Structural: Decorator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Intent: Attach additional responsibilities to object dynamically.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>
                <a:solidFill>
                  <a:srgbClr val="323232"/>
                </a:solidFill>
                <a:latin typeface="Consolas"/>
              </a:defRPr>
            </a:pPr>
            <a:r>
              <a:t>type Handler interface { ServeHTTP(req string) }</a:t>
            </a:r>
            <a:br/>
            <a:br/>
            <a:r>
              <a:t>type BaseHandler struct{}</a:t>
            </a:r>
            <a:br/>
            <a:r>
              <a:t>func (h *BaseHandler) ServeHTTP(req string) { fmt.Println("Serving") }</a:t>
            </a:r>
            <a:br/>
            <a:br/>
            <a:r>
              <a:t>// Decorator</a:t>
            </a:r>
            <a:br/>
            <a:r>
              <a:t>type LoggingHandler struct {</a:t>
            </a:r>
            <a:br/>
            <a:r>
              <a:t>    handler Handler</a:t>
            </a:r>
            <a:br/>
            <a:r>
              <a:t>}</a:t>
            </a:r>
            <a:br/>
            <a:br/>
            <a:r>
              <a:t>func (l *LoggingHandler) ServeHTTP(req string) {</a:t>
            </a:r>
            <a:br/>
            <a:r>
              <a:t>    fmt.Println("Log: Start Request")</a:t>
            </a:r>
            <a:br/>
            <a:r>
              <a:t>    l.handler.ServeHTTP(req)</a:t>
            </a:r>
            <a:br/>
            <a:r>
              <a:t>    fmt.Println("Log: End Request")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Design Patterns are tools, not rules.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Takeaways:</a:t>
            </a:r>
          </a:p>
          <a:p>
            <a:pPr lvl="1">
              <a:defRPr sz="1800"/>
            </a:pPr>
            <a:r>
              <a:t>- Creational: Flexible object creation</a:t>
            </a:r>
          </a:p>
          <a:p>
            <a:pPr lvl="1">
              <a:defRPr sz="1800"/>
            </a:pPr>
            <a:r>
              <a:t>- Structural: Better object composition</a:t>
            </a:r>
          </a:p>
          <a:p>
            <a:pPr lvl="1">
              <a:defRPr sz="1800"/>
            </a:pPr>
            <a:r>
              <a:t>- Behavioral: Efficient communication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Next Steps:</a:t>
            </a:r>
          </a:p>
          <a:p>
            <a:pPr lvl="1">
              <a:defRPr sz="1800"/>
            </a:pPr>
            <a:r>
              <a:t>- Study Behavioral Patterns</a:t>
            </a:r>
          </a:p>
          <a:p>
            <a:pPr lvl="1">
              <a:defRPr sz="1800"/>
            </a:pPr>
            <a:r>
              <a:t>- Apply patterns to refactor existing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