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Domain-Driven Design (DDD)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Software That Reflects Business Reality</a:t>
            </a:r>
          </a:p>
          <a:p/>
          <a:p>
            <a:r>
              <a:t>Presenter: Dong Tran</a:t>
            </a:r>
          </a:p>
          <a:p>
            <a:r>
              <a:t>Date: November 19,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1. What is DDD and Why It Matters</a:t>
            </a:r>
          </a:p>
          <a:p>
            <a:pPr marL="0" indent="0">
              <a:buNone/>
              <a:defRPr sz="1800"/>
            </a:pPr>
            <a:r>
              <a:t>2. Strategic Design: The Big Picture</a:t>
            </a:r>
          </a:p>
          <a:p>
            <a:pPr marL="0" indent="0">
              <a:buNone/>
              <a:defRPr sz="1800"/>
            </a:pPr>
            <a:r>
              <a:t>3. Tactical Patterns: Building Blocks</a:t>
            </a:r>
          </a:p>
          <a:p>
            <a:pPr marL="0" indent="0">
              <a:buNone/>
              <a:defRPr sz="1800"/>
            </a:pPr>
            <a:r>
              <a:t>4. Implementing DDD in Go</a:t>
            </a:r>
          </a:p>
          <a:p>
            <a:pPr marL="0" indent="0">
              <a:buNone/>
              <a:defRPr sz="1800"/>
            </a:pPr>
            <a:r>
              <a:t>5. Real-World Use Case: E-Commerce Platform</a:t>
            </a:r>
          </a:p>
          <a:p>
            <a:pPr marL="0" indent="0">
              <a:buNone/>
              <a:defRPr sz="1800"/>
            </a:pPr>
            <a:r>
              <a:t>6. Best Practices &amp; Common Pitfalls</a:t>
            </a:r>
          </a:p>
          <a:p>
            <a:pPr marL="0" indent="0">
              <a:buNone/>
              <a:defRPr sz="1800"/>
            </a:pPr>
            <a:r>
              <a:t>7. When to Use DDD</a:t>
            </a:r>
          </a:p>
          <a:p>
            <a:pPr marL="0" indent="0">
              <a:buNone/>
              <a:defRPr sz="1800"/>
            </a:pPr>
            <a:r>
              <a:t>8.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DDD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Common Software Development Challenges:</a:t>
            </a:r>
          </a:p>
          <a:p>
            <a:pPr>
              <a:defRPr sz="1800"/>
            </a:pPr>
            <a:r>
              <a:t>❌ Technical jargon vs Business language</a:t>
            </a:r>
          </a:p>
          <a:p>
            <a:pPr>
              <a:defRPr sz="1800"/>
            </a:pPr>
            <a:r>
              <a:t>❌ Complex business logic scattered everywhere</a:t>
            </a:r>
          </a:p>
          <a:p>
            <a:pPr>
              <a:defRPr sz="1800"/>
            </a:pPr>
            <a:r>
              <a:t>❌ Database-driven design</a:t>
            </a:r>
          </a:p>
          <a:p>
            <a:pPr>
              <a:defRPr sz="1800"/>
            </a:pPr>
            <a:r>
              <a:t>❌ Anemic domain models</a:t>
            </a:r>
          </a:p>
          <a:p>
            <a:pPr>
              <a:defRPr sz="1800"/>
            </a:pPr>
            <a:r>
              <a:t>❌ Lost business knowledge in code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DDD Solution:</a:t>
            </a:r>
          </a:p>
          <a:p>
            <a:pPr>
              <a:defRPr sz="1800"/>
            </a:pPr>
            <a:r>
              <a:t>✅ Align software with business needs through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Domain-Driven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Definition:</a:t>
            </a:r>
          </a:p>
          <a:p>
            <a:pPr>
              <a:defRPr sz="1800"/>
            </a:pPr>
            <a:r>
              <a:t>An approach to software development that:</a:t>
            </a:r>
          </a:p>
          <a:p>
            <a:pPr lvl="1">
              <a:defRPr sz="1800"/>
            </a:pPr>
            <a:r>
              <a:t>Centers on the core business domain</a:t>
            </a:r>
          </a:p>
          <a:p>
            <a:pPr lvl="1">
              <a:defRPr sz="1800"/>
            </a:pPr>
            <a:r>
              <a:t>Bases complex designs on domain models</a:t>
            </a:r>
          </a:p>
          <a:p>
            <a:pPr lvl="1">
              <a:defRPr sz="1800"/>
            </a:pPr>
            <a:r>
              <a:t>Initiates creative collaboration between technical and domain experts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Created by Eric Evans (2003)</a:t>
            </a:r>
          </a:p>
          <a:p>
            <a:pPr>
              <a:defRPr sz="1800"/>
            </a:pPr>
            <a:r>
              <a:t>'Blue Book' - Domain-Driven Design: Tackling Complexity in the Heart of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Three Pillars of DDD: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1. Ubiquitous Language</a:t>
            </a:r>
          </a:p>
          <a:p>
            <a:pPr>
              <a:defRPr sz="1800"/>
            </a:pPr>
            <a:r>
              <a:t>Shared vocabulary between developers and domain experts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2. Bounded Context</a:t>
            </a:r>
          </a:p>
          <a:p>
            <a:pPr>
              <a:defRPr sz="1800"/>
            </a:pPr>
            <a:r>
              <a:t>Clear boundaries where a model applies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3. Model-Driven Design</a:t>
            </a:r>
          </a:p>
          <a:p>
            <a:pPr>
              <a:defRPr sz="1800"/>
            </a:pPr>
            <a:r>
              <a:t>Code reflects domain model directly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Design - Bounded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Example: E-Commerce System</a:t>
            </a:r>
          </a:p>
          <a:p>
            <a:pPr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┌─────────────────┐  ┌─────────────────┐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Inventory   </a:t>
            </a:r>
            <a:r>
              <a:rPr lang="vi-VN"/>
              <a:t>               </a:t>
            </a:r>
            <a:r>
              <a:t>  │  │    Shopping   </a:t>
            </a:r>
            <a:r>
              <a:rPr lang="vi-VN">
                <a:sym typeface="+mn-ea"/>
              </a:rPr>
              <a:t>               </a:t>
            </a:r>
            <a:r>
              <a:t>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 Context      </a:t>
            </a:r>
            <a:r>
              <a:rPr lang="vi-VN">
                <a:sym typeface="+mn-ea"/>
              </a:rPr>
              <a:t>               </a:t>
            </a:r>
            <a:r>
              <a:t>│  │     Context  </a:t>
            </a:r>
            <a:r>
              <a:rPr lang="vi-VN">
                <a:sym typeface="+mn-ea"/>
              </a:rPr>
              <a:t>               </a:t>
            </a:r>
            <a:r>
              <a:t> 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├─────────────────┤  ├─────────────────┤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- Product    </a:t>
            </a:r>
            <a:r>
              <a:rPr lang="vi-VN">
                <a:sym typeface="+mn-ea"/>
              </a:rPr>
              <a:t>               </a:t>
            </a:r>
            <a:r>
              <a:t>   │  │ - Cart      </a:t>
            </a:r>
            <a:r>
              <a:rPr lang="vi-VN">
                <a:sym typeface="+mn-ea"/>
              </a:rPr>
              <a:t>                  </a:t>
            </a:r>
            <a:r>
              <a:t>  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- Stock     </a:t>
            </a:r>
            <a:r>
              <a:rPr lang="vi-VN">
                <a:sym typeface="+mn-ea"/>
              </a:rPr>
              <a:t>                 </a:t>
            </a:r>
            <a:r>
              <a:t>    │  │ - Product View</a:t>
            </a:r>
            <a:r>
              <a:rPr lang="vi-VN">
                <a:sym typeface="+mn-ea"/>
              </a:rPr>
              <a:t>            </a:t>
            </a:r>
            <a:r>
              <a:t>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- Warehouse </a:t>
            </a:r>
            <a:r>
              <a:rPr lang="vi-VN">
                <a:sym typeface="+mn-ea"/>
              </a:rPr>
              <a:t>             </a:t>
            </a:r>
            <a:r>
              <a:t>    │  │ - Customer      </a:t>
            </a:r>
            <a:r>
              <a:rPr lang="vi-VN">
                <a:sym typeface="+mn-ea"/>
              </a:rPr>
              <a:t>             </a:t>
            </a:r>
            <a:r>
              <a:t>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└─────────────────┘  └─────────────────┘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     ↓               </a:t>
            </a:r>
            <a:r>
              <a:rPr lang="vi-VN">
                <a:sym typeface="+mn-ea"/>
              </a:rPr>
              <a:t>                          </a:t>
            </a:r>
            <a:r>
              <a:t>     ↓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┌─────────────────┐  ┌─────────────────┐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 Billing   </a:t>
            </a:r>
            <a:r>
              <a:rPr lang="vi-VN">
                <a:sym typeface="+mn-ea"/>
              </a:rPr>
              <a:t>                  </a:t>
            </a:r>
            <a:r>
              <a:t>   │  │   Shipping     </a:t>
            </a:r>
            <a:r>
              <a:rPr lang="vi-VN">
                <a:sym typeface="+mn-ea"/>
              </a:rPr>
              <a:t>                </a:t>
            </a:r>
            <a:r>
              <a:t>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 Context   </a:t>
            </a:r>
            <a:r>
              <a:rPr lang="vi-VN">
                <a:sym typeface="+mn-ea"/>
              </a:rPr>
              <a:t>               </a:t>
            </a:r>
            <a:r>
              <a:t>   │  │    Context    </a:t>
            </a:r>
            <a:r>
              <a:rPr lang="vi-VN">
                <a:sym typeface="+mn-ea"/>
              </a:rPr>
              <a:t>               </a:t>
            </a:r>
            <a:r>
              <a:t>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├─────────────────┤  ├─────────────────┤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- Invoice     </a:t>
            </a:r>
            <a:r>
              <a:rPr lang="vi-VN">
                <a:sym typeface="+mn-ea"/>
              </a:rPr>
              <a:t>                </a:t>
            </a:r>
            <a:r>
              <a:t>  │  │ - Delivery  </a:t>
            </a:r>
            <a:r>
              <a:rPr lang="vi-VN">
                <a:sym typeface="+mn-ea"/>
              </a:rPr>
              <a:t>                </a:t>
            </a:r>
            <a:r>
              <a:t>  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- Payment   </a:t>
            </a:r>
            <a:r>
              <a:rPr lang="vi-VN">
                <a:sym typeface="+mn-ea"/>
              </a:rPr>
              <a:t>             </a:t>
            </a:r>
            <a:r>
              <a:t>    │  │ - Address    </a:t>
            </a:r>
            <a:r>
              <a:rPr lang="vi-VN">
                <a:sym typeface="+mn-ea"/>
              </a:rPr>
              <a:t>               </a:t>
            </a:r>
            <a:r>
              <a:t> 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- Tax        </a:t>
            </a:r>
            <a:r>
              <a:rPr lang="vi-VN">
                <a:sym typeface="+mn-ea"/>
              </a:rPr>
              <a:t>                 </a:t>
            </a:r>
            <a:r>
              <a:t>   │  │ - Tracking   </a:t>
            </a:r>
            <a:r>
              <a:rPr lang="vi-VN">
                <a:sym typeface="+mn-ea"/>
              </a:rPr>
              <a:t>               </a:t>
            </a:r>
            <a:r>
              <a:t>   │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└─────────────────┘  └─────────────────┘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Mapping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How Bounded Contexts Relate: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Shared Kernel: Shared subset of domain model</a:t>
            </a:r>
          </a:p>
          <a:p>
            <a:pPr>
              <a:defRPr sz="1800"/>
            </a:pPr>
            <a:r>
              <a:t>Customer/Supplier: Upstream/downstream relationship</a:t>
            </a:r>
          </a:p>
          <a:p>
            <a:pPr>
              <a:defRPr sz="1800"/>
            </a:pPr>
            <a:r>
              <a:t>Conformist: Downstream conforms to upstream</a:t>
            </a:r>
          </a:p>
          <a:p>
            <a:pPr>
              <a:defRPr sz="1800"/>
            </a:pPr>
            <a:r>
              <a:t>Anti-Corruption Layer: Translation layer between contexts</a:t>
            </a:r>
          </a:p>
          <a:p>
            <a:pPr>
              <a:defRPr sz="1800"/>
            </a:pPr>
            <a:r>
              <a:t>Open Host Service: Well-defined protocol for access</a:t>
            </a:r>
          </a:p>
          <a:p>
            <a:pPr>
              <a:defRPr sz="1800"/>
            </a:pPr>
            <a:r>
              <a:t>Published Language: Well-documented shared language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Tactical Patterns -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Domain Model Components: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Entity: Has identity (User, Order)</a:t>
            </a:r>
          </a:p>
          <a:p>
            <a:pPr>
              <a:defRPr sz="1800"/>
            </a:pPr>
            <a:r>
              <a:t>Value Object: No identity (Money, Address)</a:t>
            </a:r>
          </a:p>
          <a:p>
            <a:pPr>
              <a:defRPr sz="1800"/>
            </a:pPr>
            <a:r>
              <a:t>Aggregate: Consistency boundary</a:t>
            </a:r>
          </a:p>
          <a:p>
            <a:pPr>
              <a:defRPr sz="1800"/>
            </a:pPr>
            <a:r>
              <a:t>Domain Service: Business operations</a:t>
            </a:r>
          </a:p>
          <a:p>
            <a:pPr>
              <a:defRPr sz="1800"/>
            </a:pPr>
            <a:r>
              <a:t>Repository: Persistence abstraction</a:t>
            </a:r>
          </a:p>
          <a:p>
            <a:pPr>
              <a:defRPr sz="1800"/>
            </a:pPr>
            <a:r>
              <a:t>Factory: Complex creation logic</a:t>
            </a:r>
          </a:p>
          <a:p>
            <a:pPr>
              <a:defRPr sz="1800"/>
            </a:pPr>
            <a:r>
              <a:t>Domain Event: Something that happened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vs Value Object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Entity Example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User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ID        UserID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Email     Email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(u *User) Equals(other *User) bool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u.ID == other.ID // Identity comparison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Value Object Example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Money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Amount   decimal.Decimal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Currency string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(m Money) Equals(other Money) bool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m.Amount.Equal(other.Amount) &amp;&amp; m.Currency == other.Currency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Pattern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Aggregate Root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ID         OrderID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Items      []OrderItem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Status     OrderStatus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Business invariants protected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(o *Order) AddItem(product Product, quantity int) error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if o.Status != OrderStatusDraft { return ErrOrderNotEditable 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if quantity &lt;= 0 { return ErrInvalidQuantity 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Logic to add item...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o.recalculateTotal()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nil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Pattern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Domain layer - defines the contract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OrderRepository interface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Save(ctx context.Context, order *Order) error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FindByID(ctx context.Context, id OrderID) (*Order, error)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Infrastructure layer - implements the contract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PostgresOrderRepository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db *sql.DB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(r *PostgresOrderRepository) Save(ctx context.Context, order *Order) error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SQL Implementation details...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Service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When Business Logic Doesn't Fit in Entity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PricingService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discountRepo DiscountRepository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taxCalc      TaxCalculator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(s *PricingService) CalculateFinalPrice(order *Order, cust *Customer) (Money, error)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subtotal := order.CalculateSubtotal()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discount := s.discountRepo.GetCustomerDiscount(cust.Tier)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afterDiscount := subtotal.ApplyPercentage(discount)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tax := s.taxCalc.Calculate(afterDiscount, cust.Address)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afterDiscount.Add(tax), nil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Events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OrderPlaced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OrderID    OrderID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Total      Money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OccurredAt time.Time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(o *Order) PlaceOrder() error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if err := o.validate(); err != nil { return err 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o.Status = OrderStatusPlaced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Record domain event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o.events = append(o.events, OrderPlaced{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    OrderID: o.ID, Total: o.Total, OccurredAt: time.Now(),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})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nil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 in 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project/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├── cmd/api/main.go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├── internal/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├── domain/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│   ├── order/ (Aggregate, Service, Events)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│   └── shared/ (Value Objects)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├── application/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│   ├── command/ (Write use cases)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│   └── query/ (Read use cases)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├── infrastructure/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│   └── persistence/postgres/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└── interfaces/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│       └── http/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└── go.mod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Use Case - Place Order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(h *PlaceOrderHandler) Handle(ctx context.Context, cmd PlaceOrderCommand) error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1. Load customer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customer, _ := h.customerRepo.FindByID(ctx, cmd.CustomerID)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2. Create order aggregate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order := NewOrder(cmd.CustomerID)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3. Add items (domain logic)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for _, item := range cmd.Items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    product, _ := h.productRepo.FindByID(ctx, item.ProductID)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    order.AddItem(product, item.Quantity)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4. Place order &amp; Persist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order.PlaceOrder()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h.orderRepo.Save(ctx, order)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5. Publish events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h.eventBus.Publish(ctx, order.GetEvents()...)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Specification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Complex Business Rules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Specification interface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IsSatisfiedBy(candidate interface{}) bool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FreeShippingSpec struct { minAmount Money 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(s FreeShippingSpec) IsSatisfiedBy(candidate interface{}) bool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order, _ := candidate.(*Order)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order.Total.GreaterThan(s.minAmount)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CQRS with DDD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Command Query Responsibility Segregation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Write Model (Command Side) - Rich Behavior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ID     OrderID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Items  []OrderItem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... methods to change state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Read Model (Query Side) - Optimized for Display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OrderView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ID           string    `json:"id"`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CustomerName string    `json:"customer_name"`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TotalAmount  float64   `json:"total_amount"`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StatusText   string    `json:"status"`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DDD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TestOrder_AddItem(t *testing.T)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Given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order := NewOrder(CustomerID("cust-123"))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product := Product{ID: "p1", Price: NewMoney(1000)}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When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err := order.AddItem(product, 2)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// Then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assert.NoError(t, err)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assert.Equal(t, 2, order.Items[0].Quantity)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TestOrder_CannotModifyAfterPlaced(t *testing.T)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order := &amp;Order{Status: OrderStatusPlaced}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err := order.AddItem(Product{}, 1)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assert.Equal(t, ErrOrderNotEditable, err)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DO's:</a:t>
            </a:r>
          </a:p>
          <a:p>
            <a:pPr marL="0" indent="0">
              <a:buNone/>
              <a:defRPr sz="1800"/>
            </a:pPr>
            <a:r>
              <a:t>✅ Start with Ubiquitous Language</a:t>
            </a:r>
          </a:p>
          <a:p>
            <a:pPr marL="0" indent="0">
              <a:buNone/>
              <a:defRPr sz="1800"/>
            </a:pPr>
            <a:r>
              <a:t>✅ Focus on Core Domain</a:t>
            </a:r>
          </a:p>
          <a:p>
            <a:pPr marL="0" indent="0">
              <a:buNone/>
              <a:defRPr sz="1800"/>
            </a:pPr>
            <a:r>
              <a:t>✅ Keep Aggregates small</a:t>
            </a:r>
          </a:p>
          <a:p>
            <a:pPr marL="0" indent="0">
              <a:buNone/>
              <a:defRPr sz="1800"/>
            </a:pPr>
            <a:r>
              <a:t>✅ Use Value Objects liberally</a:t>
            </a:r>
          </a:p>
          <a:p>
            <a:pPr marL="0" indent="0">
              <a:buNone/>
              <a:defRPr sz="1800"/>
            </a:pPr>
            <a:r>
              <a:t>✅ Make implicit concepts explicit</a:t>
            </a:r>
          </a:p>
          <a:p>
            <a:pPr marL="0" indent="0">
              <a:buNone/>
              <a:defRPr sz="1800"/>
            </a:pPr>
            <a:r>
              <a:t>✅ Test domain logic thoroughly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DON'Ts:</a:t>
            </a:r>
          </a:p>
          <a:p>
            <a:pPr marL="0" indent="0">
              <a:buNone/>
              <a:defRPr sz="1800"/>
            </a:pPr>
            <a:r>
              <a:t>❌ Don't start with database schema</a:t>
            </a:r>
          </a:p>
          <a:p>
            <a:pPr marL="0" indent="0">
              <a:buNone/>
              <a:defRPr sz="1800"/>
            </a:pPr>
            <a:r>
              <a:t>❌ Don't create anemic domain models</a:t>
            </a:r>
          </a:p>
          <a:p>
            <a:pPr marL="0" indent="0">
              <a:buNone/>
              <a:defRPr sz="1800"/>
            </a:pPr>
            <a:r>
              <a:t>❌ Don't violate aggregate boundaries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Pitfalls: Anemic Domain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❌ Bad: Anemic model (Data holder only)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ID     string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Status string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// ✅ Good: Rich domain model (Encapsulates logic)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type Order struct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id     OrderID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status OrderStatus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func (o *Order) Cancel(reason string) error {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if !o.canBeCancelled() { return ErrCannotCancel }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o.status = OrderStatusCancelled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o.recordEvent(OrderCancelled{...})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    return nil</a:t>
            </a:r>
          </a:p>
          <a:p>
            <a:pPr marL="0" indent="0">
              <a:buNone/>
              <a:defRPr sz="1100">
                <a:solidFill>
                  <a:srgbClr val="323232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DDD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Good Fit:</a:t>
            </a:r>
          </a:p>
          <a:p>
            <a:pPr marL="0" indent="0">
              <a:buNone/>
              <a:defRPr sz="1800"/>
            </a:pPr>
            <a:r>
              <a:t>✅ Complex business logic</a:t>
            </a:r>
          </a:p>
          <a:p>
            <a:pPr marL="0" indent="0">
              <a:buNone/>
              <a:defRPr sz="1800"/>
            </a:pPr>
            <a:r>
              <a:t>✅ Business rules change frequently</a:t>
            </a:r>
          </a:p>
          <a:p>
            <a:pPr marL="0" indent="0">
              <a:buNone/>
              <a:defRPr sz="1800"/>
            </a:pPr>
            <a:r>
              <a:t>✅ Long-term project (&gt;6 months)</a:t>
            </a:r>
          </a:p>
          <a:p>
            <a:pPr marL="0" indent="0">
              <a:buNone/>
              <a:defRPr sz="1800"/>
            </a:pPr>
            <a:r>
              <a:t>✅ Domain experts available</a:t>
            </a:r>
          </a:p>
          <a:p>
            <a:pPr marL="0" indent="0">
              <a:buNone/>
              <a:defRPr sz="1800"/>
            </a:pPr>
            <a:r>
              <a:t>✅ Multiple bounded contexts</a:t>
            </a:r>
          </a:p>
          <a:p>
            <a:pPr marL="0" indent="0">
              <a:buNone/>
              <a:defRPr sz="1800"/>
            </a:pPr>
          </a:p>
          <a:p>
            <a:pPr marL="0" indent="0">
              <a:buNone/>
              <a:defRPr sz="1800"/>
            </a:pPr>
            <a:r>
              <a:t>Not a Good Fit:</a:t>
            </a:r>
          </a:p>
          <a:p>
            <a:pPr marL="0" indent="0">
              <a:buNone/>
              <a:defRPr sz="1800"/>
            </a:pPr>
            <a:r>
              <a:t>❌ Simple CRUD applications</a:t>
            </a:r>
          </a:p>
          <a:p>
            <a:pPr marL="0" indent="0">
              <a:buNone/>
              <a:defRPr sz="1800"/>
            </a:pPr>
            <a:r>
              <a:t>❌ Technical/infrastructure projects</a:t>
            </a:r>
          </a:p>
          <a:p>
            <a:pPr marL="0" indent="0">
              <a:buNone/>
              <a:defRPr sz="1800"/>
            </a:pPr>
            <a:r>
              <a:t>❌ Short-term projects</a:t>
            </a:r>
          </a:p>
          <a:p>
            <a:pPr marL="0" indent="0">
              <a:buNone/>
              <a:defRPr sz="1800"/>
            </a:pPr>
            <a:r>
              <a:t>❌ No domain complexity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DDD Maturity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  <a:p>
            <a:pPr marL="0" indent="0">
              <a:buNone/>
              <a:defRPr sz="1800"/>
            </a:pPr>
            <a:r>
              <a:t>Level 1: Tactical Patterns</a:t>
            </a:r>
          </a:p>
          <a:p>
            <a:pPr>
              <a:defRPr sz="1800"/>
            </a:pPr>
            <a:r>
              <a:t>Using Entities, Value Objects, Repositories</a:t>
            </a:r>
          </a:p>
          <a:p>
            <a:pPr>
              <a:defRPr sz="1800"/>
            </a:pPr>
            <a:r>
              <a:t>Basic separation of concerns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Level 2: Strategic Design</a:t>
            </a:r>
          </a:p>
          <a:p>
            <a:pPr>
              <a:defRPr sz="1800"/>
            </a:pPr>
            <a:r>
              <a:t>Bounded Contexts identified</a:t>
            </a:r>
          </a:p>
          <a:p>
            <a:pPr>
              <a:defRPr sz="1800"/>
            </a:pPr>
            <a:r>
              <a:t>Context Mapping</a:t>
            </a:r>
          </a:p>
          <a:p>
            <a:pPr>
              <a:defRPr sz="1800"/>
            </a:pPr>
            <a:r>
              <a:t>Ubiquitous Language established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Level 3: Full DDD</a:t>
            </a:r>
          </a:p>
          <a:p>
            <a:pPr>
              <a:defRPr sz="1800"/>
            </a:pPr>
            <a:r>
              <a:t>Event Storming sessions</a:t>
            </a:r>
          </a:p>
          <a:p>
            <a:pPr>
              <a:defRPr sz="1800"/>
            </a:pPr>
            <a:r>
              <a:t>Domain Events</a:t>
            </a:r>
          </a:p>
          <a:p>
            <a:pPr>
              <a:defRPr sz="1800"/>
            </a:pPr>
            <a:r>
              <a:t>Event Sourcing / CQRS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Companies Using DDD:</a:t>
            </a:r>
          </a:p>
          <a:p>
            <a:pPr>
              <a:defRPr sz="1800"/>
            </a:pPr>
            <a:r>
              <a:t>Amazon - Service boundaries align with bounded contexts</a:t>
            </a:r>
          </a:p>
          <a:p>
            <a:pPr>
              <a:defRPr sz="1800"/>
            </a:pPr>
            <a:r>
              <a:t>Netflix - Microservices following DDD principles</a:t>
            </a:r>
          </a:p>
          <a:p>
            <a:pPr>
              <a:defRPr sz="1800"/>
            </a:pPr>
            <a:r>
              <a:t>Alibaba - Large-scale e-commerce</a:t>
            </a:r>
          </a:p>
          <a:p>
            <a:pPr>
              <a:defRPr sz="1800"/>
            </a:pPr>
            <a:r>
              <a:t>ING Bank - Banking domain complexity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Benefits Reported:</a:t>
            </a:r>
          </a:p>
          <a:p>
            <a:pPr>
              <a:defRPr sz="1800"/>
            </a:pPr>
            <a:r>
              <a:t>40% reduction in bugs related to business logic</a:t>
            </a:r>
          </a:p>
          <a:p>
            <a:pPr>
              <a:defRPr sz="1800"/>
            </a:pPr>
            <a:r>
              <a:t>60% faster feature development in complex domains</a:t>
            </a:r>
          </a:p>
          <a:p>
            <a:pPr>
              <a:defRPr sz="1800"/>
            </a:pPr>
            <a:r>
              <a:t>Better communication with business stakeholders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Event Storming Tools:</a:t>
            </a:r>
          </a:p>
          <a:p>
            <a:pPr>
              <a:defRPr sz="1800"/>
            </a:pPr>
            <a:r>
              <a:t>Miro / Mural</a:t>
            </a:r>
          </a:p>
          <a:p>
            <a:pPr>
              <a:defRPr sz="1800"/>
            </a:pPr>
            <a:r>
              <a:t>Sticky notes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Go Libraries:</a:t>
            </a:r>
          </a:p>
          <a:p>
            <a:pPr>
              <a:defRPr sz="1800"/>
            </a:pPr>
            <a:r>
              <a:t>ThreeDotsLabs/wild-workouts-go-ddd-example</a:t>
            </a:r>
          </a:p>
          <a:p>
            <a:pPr>
              <a:defRPr sz="1800"/>
            </a:pPr>
            <a:r>
              <a:t>vardius/go-api-boilerplate</a:t>
            </a:r>
          </a:p>
          <a:p>
            <a:pPr>
              <a:defRPr sz="1800"/>
            </a:pPr>
          </a:p>
          <a:p>
            <a:pPr marL="0" indent="0">
              <a:buNone/>
              <a:defRPr sz="1800"/>
            </a:pPr>
            <a:r>
              <a:t>Books:</a:t>
            </a:r>
          </a:p>
          <a:p>
            <a:pPr>
              <a:defRPr sz="1800"/>
            </a:pPr>
            <a:r>
              <a:t>Domain-Driven Design (Eric Evans)</a:t>
            </a:r>
          </a:p>
          <a:p>
            <a:pPr>
              <a:defRPr sz="1800"/>
            </a:pPr>
            <a:r>
              <a:t>Implementing DDD (Vaughn Vernon)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marL="0" indent="0">
              <a:buNone/>
              <a:defRPr sz="1800"/>
            </a:pPr>
            <a:r>
              <a:t>□ Identify Core Domain</a:t>
            </a:r>
          </a:p>
          <a:p>
            <a:pPr marL="0" indent="0">
              <a:buNone/>
              <a:defRPr sz="1800"/>
            </a:pPr>
            <a:r>
              <a:t>□ Map Bounded Contexts</a:t>
            </a:r>
          </a:p>
          <a:p>
            <a:pPr marL="0" indent="0">
              <a:buNone/>
              <a:defRPr sz="1800"/>
            </a:pPr>
            <a:r>
              <a:t>□ Establish Ubiquitous Language</a:t>
            </a:r>
          </a:p>
          <a:p>
            <a:pPr marL="0" indent="0">
              <a:buNone/>
              <a:defRPr sz="1800"/>
            </a:pPr>
            <a:r>
              <a:t>□ Model Key Aggregates</a:t>
            </a:r>
          </a:p>
          <a:p>
            <a:pPr marL="0" indent="0">
              <a:buNone/>
              <a:defRPr sz="1800"/>
            </a:pPr>
            <a:r>
              <a:t>□ Define Repository Interfaces</a:t>
            </a:r>
          </a:p>
          <a:p>
            <a:pPr marL="0" indent="0">
              <a:buNone/>
              <a:defRPr sz="1800"/>
            </a:pPr>
            <a:r>
              <a:t>□ Implement Domain Services</a:t>
            </a:r>
          </a:p>
          <a:p>
            <a:pPr marL="0" indent="0">
              <a:buNone/>
              <a:defRPr sz="1800"/>
            </a:pPr>
            <a:r>
              <a:t>□ Add Domain Events</a:t>
            </a:r>
          </a:p>
          <a:p>
            <a:pPr marL="0" indent="0">
              <a:buNone/>
              <a:defRPr sz="1800"/>
            </a:pPr>
            <a:r>
              <a:t>□ Create Application Services</a:t>
            </a:r>
          </a:p>
          <a:p>
            <a:pPr marL="0" indent="0">
              <a:buNone/>
              <a:defRPr sz="1800"/>
            </a:pPr>
            <a:r>
              <a:t>□ Set up Infrastructure</a:t>
            </a:r>
          </a:p>
          <a:p>
            <a:pPr marL="0" indent="0">
              <a:buNone/>
              <a:defRPr sz="1800"/>
            </a:pPr>
            <a:r>
              <a:t>□ Write Tests &amp; Iterate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DDD is about understanding the business domain</a:t>
            </a:r>
          </a:p>
          <a:p>
            <a:pPr>
              <a:defRPr sz="1800"/>
            </a:pPr>
            <a:r>
              <a:t>Ubiquitous Language is the foundation</a:t>
            </a:r>
          </a:p>
          <a:p>
            <a:pPr>
              <a:defRPr sz="1800"/>
            </a:pPr>
            <a:r>
              <a:t>Bounded Contexts prevent model pollution</a:t>
            </a:r>
          </a:p>
          <a:p>
            <a:pPr>
              <a:defRPr sz="1800"/>
            </a:pPr>
            <a:r>
              <a:t>Rich domain models encapsulate business logic</a:t>
            </a:r>
          </a:p>
          <a:p>
            <a:pPr>
              <a:defRPr sz="1800"/>
            </a:pPr>
            <a:r>
              <a:t>Start simple, evolve based on complexity</a:t>
            </a:r>
          </a:p>
          <a:p>
            <a:pPr>
              <a:defRPr sz="1800"/>
            </a:pPr>
            <a:r>
              <a:t>Not every project needs DDD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Let's Discuss:</a:t>
            </a:r>
          </a:p>
          <a:p>
            <a:pPr>
              <a:defRPr sz="1800"/>
            </a:pPr>
            <a:r>
              <a:t>- Which parts of our system could benefit from DDD?</a:t>
            </a:r>
          </a:p>
          <a:p>
            <a:pPr>
              <a:defRPr sz="1800"/>
            </a:pPr>
            <a:r>
              <a:t>- What are our core domains?</a:t>
            </a:r>
          </a:p>
          <a:p>
            <a:pPr>
              <a:defRPr sz="1800"/>
            </a:pPr>
            <a:r>
              <a:t>- Who are our domain experts?</a:t>
            </a:r>
          </a:p>
          <a:p>
            <a:pPr>
              <a:defRPr sz="1800"/>
            </a:pPr>
            <a:r>
              <a:t>- What challenges do you see in implementing DDD?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Contact:</a:t>
            </a:r>
          </a:p>
          <a:p>
            <a:pPr>
              <a:defRPr sz="1800"/>
            </a:pPr>
            <a:r>
              <a:t>Dong Tran</a:t>
            </a:r>
          </a:p>
          <a:p>
            <a:pPr>
              <a:defRPr sz="1800"/>
            </a:pPr>
            <a:r>
              <a:t>dong.tran@company.com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</a:p>
          <a:p>
            <a:pPr marL="0" indent="0">
              <a:buNone/>
              <a:defRPr sz="1800"/>
            </a:pPr>
            <a:r>
              <a:t>"</a:t>
            </a:r>
            <a:r>
              <a:rPr i="1">
                <a:latin typeface="Arial Italic" panose="020B0604020202090204" charset="0"/>
                <a:cs typeface="Arial Italic" panose="020B0604020202090204" charset="0"/>
              </a:rPr>
              <a:t>The goal of DDD is to create better software by focusing on a model of the domain rather than technology.</a:t>
            </a:r>
            <a:r>
              <a:t>"</a:t>
            </a:r>
          </a:p>
          <a:p>
            <a:pPr marL="0" indent="0">
              <a:buNone/>
              <a:defRPr sz="1800"/>
            </a:pPr>
            <a:r>
              <a:t>- Eric Evans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SimSun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10104</Words>
  <Application>WPS Presentation</Application>
  <PresentationFormat>On-screen Show (4:3)</PresentationFormat>
  <Paragraphs>416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Arial</vt:lpstr>
      <vt:lpstr>Consolas</vt:lpstr>
      <vt:lpstr>Thonburi</vt:lpstr>
      <vt:lpstr>Calibri</vt:lpstr>
      <vt:lpstr>Helvetica Neue</vt:lpstr>
      <vt:lpstr>Microsoft YaHei</vt:lpstr>
      <vt:lpstr>汉仪旗黑</vt:lpstr>
      <vt:lpstr>Arial Unicode MS</vt:lpstr>
      <vt:lpstr>汉仪书宋二KW</vt:lpstr>
      <vt:lpstr>Apple Color Emoji</vt:lpstr>
      <vt:lpstr>Arial Italic</vt:lpstr>
      <vt:lpstr>Business Cooperate</vt:lpstr>
      <vt:lpstr>Domain-Driven Design (DDD)</vt:lpstr>
      <vt:lpstr>Agenda</vt:lpstr>
      <vt:lpstr>The Problem DDD Solves</vt:lpstr>
      <vt:lpstr>What is Domain-Driven Design?</vt:lpstr>
      <vt:lpstr>Core Concepts</vt:lpstr>
      <vt:lpstr>Strategic Design - Bounded Contexts</vt:lpstr>
      <vt:lpstr>Context Mapping Patterns</vt:lpstr>
      <vt:lpstr>Tactical Patterns - Building Blocks</vt:lpstr>
      <vt:lpstr>Entity vs Value Object in Go</vt:lpstr>
      <vt:lpstr>Aggregate Pattern in Go</vt:lpstr>
      <vt:lpstr>Repository Pattern in Go</vt:lpstr>
      <vt:lpstr>Domain Service in Go</vt:lpstr>
      <vt:lpstr>Domain Events in Go</vt:lpstr>
      <vt:lpstr>Project Structure in Go</vt:lpstr>
      <vt:lpstr>Real Use Case - Place Order Flow</vt:lpstr>
      <vt:lpstr>Specification Pattern</vt:lpstr>
      <vt:lpstr>CQRS with DDD</vt:lpstr>
      <vt:lpstr>Testing DDD Code</vt:lpstr>
      <vt:lpstr>Best Practices</vt:lpstr>
      <vt:lpstr>Common Pitfalls: Anemic Domain Model</vt:lpstr>
      <vt:lpstr>When to Use DDD</vt:lpstr>
      <vt:lpstr>DDD Maturity Levels</vt:lpstr>
      <vt:lpstr>Real-World Success Stories</vt:lpstr>
      <vt:lpstr>Tools &amp; Resources</vt:lpstr>
      <vt:lpstr>Implementation Checklist</vt:lpstr>
      <vt:lpstr>Key Takeaways</vt:lpstr>
      <vt:lpstr>Questions &amp; Discussion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mrku</cp:lastModifiedBy>
  <cp:revision>2</cp:revision>
  <dcterms:created xsi:type="dcterms:W3CDTF">2025-11-20T02:33:32Z</dcterms:created>
  <dcterms:modified xsi:type="dcterms:W3CDTF">2025-11-20T02:33:32Z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B578D595BF788A4BFC7D1E6900755C5A_42</vt:lpwstr>
  </property>
  <property fmtid="{D5CDD505-2E9C-101B-9397-08002B2CF9AE}" pid="3" name="KSOProductBuildVer">
    <vt:lpwstr>1033-6.11.0.8608</vt:lpwstr>
  </property>
</Properties>
</file>