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Relationships &amp; Integration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Connecting Architecture Patterns, Design Principles, and Development Practices</a:t>
            </a:r>
          </a:p>
          <a:p/>
          <a:p>
            <a:r>
              <a:t>Presenter: Dong Tran</a:t>
            </a:r>
          </a:p>
          <a:p>
            <a:r>
              <a:t>Date: November 20,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1. The Integration Challenge</a:t>
            </a:r>
          </a:p>
          <a:p>
            <a:pPr>
              <a:defRPr sz="1800"/>
            </a:pPr>
            <a:r>
              <a:t>2. Architecture Patterns Relationships</a:t>
            </a:r>
          </a:p>
          <a:p>
            <a:pPr>
              <a:defRPr sz="1800"/>
            </a:pPr>
            <a:r>
              <a:t>3. Design Principles Harmony</a:t>
            </a:r>
          </a:p>
          <a:p>
            <a:pPr>
              <a:defRPr sz="1800"/>
            </a:pPr>
            <a:r>
              <a:t>4. Layered Architecture Integration</a:t>
            </a:r>
          </a:p>
          <a:p>
            <a:pPr>
              <a:defRPr sz="1800"/>
            </a:pPr>
            <a:r>
              <a:t>5. Microservices + DDD + Clean Architecture</a:t>
            </a:r>
          </a:p>
          <a:p>
            <a:pPr>
              <a:defRPr sz="1800"/>
            </a:pPr>
            <a:r>
              <a:t>6. SOLID + GoF Patterns Synergy</a:t>
            </a:r>
          </a:p>
          <a:p>
            <a:pPr>
              <a:defRPr sz="1800"/>
            </a:pPr>
            <a:r>
              <a:t>7. Event-Driven Integration Patterns</a:t>
            </a:r>
          </a:p>
          <a:p>
            <a:pPr>
              <a:defRPr sz="1800"/>
            </a:pPr>
            <a:r>
              <a:t>8. Data Integration Strategies</a:t>
            </a:r>
          </a:p>
          <a:p>
            <a:pPr>
              <a:defRPr sz="1800"/>
            </a:pPr>
            <a:r>
              <a:t>9. API Integration Patterns</a:t>
            </a:r>
          </a:p>
          <a:p>
            <a:pPr>
              <a:defRPr sz="1800"/>
            </a:pPr>
            <a:r>
              <a:t>10. Testing Integration Strategies</a:t>
            </a:r>
          </a:p>
          <a:p>
            <a:pPr>
              <a:defRPr sz="1800"/>
            </a:pPr>
            <a:r>
              <a:t>11. DevOps Integration</a:t>
            </a:r>
          </a:p>
          <a:p>
            <a:pPr>
              <a:defRPr sz="1800"/>
            </a:pPr>
            <a:r>
              <a:t>12. Real-World Case Study: E-Commerce Platform</a:t>
            </a:r>
          </a:p>
          <a:p>
            <a:pPr>
              <a:defRPr sz="1800"/>
            </a:pPr>
            <a:r>
              <a:t>13. Best Practices &amp; Guidelines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Integration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The Reality of Modern Systems:</a:t>
            </a:r>
          </a:p>
          <a:p>
            <a:pPr lvl="1">
              <a:defRPr sz="1800"/>
            </a:pPr>
            <a:r>
              <a:t>- Multiple Patterns (Clean, DDD, Microservices)</a:t>
            </a:r>
          </a:p>
          <a:p>
            <a:pPr lvl="1">
              <a:defRPr sz="1800"/>
            </a:pPr>
            <a:r>
              <a:t>- Various Principles (SOLID, DRY, KISS)</a:t>
            </a:r>
          </a:p>
          <a:p>
            <a:pPr lvl="1">
              <a:defRPr sz="1800"/>
            </a:pPr>
            <a:r>
              <a:t>- Legacy Systems &amp; Third-Party Services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Challenges:</a:t>
            </a:r>
          </a:p>
          <a:p>
            <a:pPr lvl="1">
              <a:defRPr sz="1800"/>
            </a:pPr>
            <a:r>
              <a:t>🔴 Pattern Conflicts</a:t>
            </a:r>
          </a:p>
          <a:p>
            <a:pPr lvl="1">
              <a:defRPr sz="1800"/>
            </a:pPr>
            <a:r>
              <a:t>🔴 Complexity Explosion</a:t>
            </a:r>
          </a:p>
          <a:p>
            <a:pPr lvl="1">
              <a:defRPr sz="1800"/>
            </a:pPr>
            <a:r>
              <a:t>🔴 Consistency Issues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Goal: Transform Isolated Patterns -&gt; Synergistic Whole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Patterns 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Clean Architecture + DDD:</a:t>
            </a:r>
          </a:p>
          <a:p>
            <a:pPr lvl="1">
              <a:defRPr sz="1800"/>
            </a:pPr>
            <a:r>
              <a:t>- Complementary: DDD Entities live in Clean Arch Core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Microservices + DDD:</a:t>
            </a:r>
          </a:p>
          <a:p>
            <a:pPr lvl="1">
              <a:defRPr sz="1800"/>
            </a:pPr>
            <a:r>
              <a:t>- Natural Fit: Bounded Contexts become Microservices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Clean Architecture + Hexagonal:</a:t>
            </a:r>
          </a:p>
          <a:p>
            <a:pPr lvl="1">
              <a:defRPr sz="1800"/>
            </a:pPr>
            <a:r>
              <a:t>- Similar Philosophy: Ports &amp; Adapters = Interface Adapters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Event Sourcing + CQRS:</a:t>
            </a:r>
          </a:p>
          <a:p>
            <a:pPr lvl="1">
              <a:defRPr sz="1800"/>
            </a:pPr>
            <a:r>
              <a:t>- Synergistic: Event Store feeds Read Models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Microservices + DDD + Clean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Integrating DDD Aggregates inside Clean Architecture Layers within Microservices.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48840"/>
            <a:ext cx="8229600" cy="3977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000">
                <a:solidFill>
                  <a:srgbClr val="323232"/>
                </a:solidFill>
                <a:latin typeface="Consolas"/>
              </a:defRPr>
            </a:pPr>
            <a:r>
              <a:t>// Clean Architecture + DDD Integration</a:t>
            </a:r>
            <a:br/>
            <a:br/>
            <a:r>
              <a:t>// 1. Domain Layer (Core)</a:t>
            </a:r>
            <a:br/>
            <a:r>
              <a:t>type Order struct { // DDD Aggregate Root</a:t>
            </a:r>
            <a:br/>
            <a:r>
              <a:t>    ID     OrderID</a:t>
            </a:r>
            <a:br/>
            <a:r>
              <a:t>    Items  []OrderItem</a:t>
            </a:r>
            <a:br/>
            <a:r>
              <a:t>    Events []DomainEvent</a:t>
            </a:r>
            <a:br/>
            <a:r>
              <a:t>}</a:t>
            </a:r>
            <a:br/>
            <a:br/>
            <a:r>
              <a:t>// 2. Application Layer (Use Cases)</a:t>
            </a:r>
            <a:br/>
            <a:r>
              <a:t>type PlaceOrderUseCase struct {</a:t>
            </a:r>
            <a:br/>
            <a:r>
              <a:t>    repo domain.OrderRepository // DDD Repo Interface</a:t>
            </a:r>
            <a:br/>
            <a:r>
              <a:t>}</a:t>
            </a:r>
            <a:br/>
            <a:br/>
            <a:r>
              <a:t>func (uc *PlaceOrderUseCase) Execute(cmd PlaceOrderCommand) error {</a:t>
            </a:r>
            <a:br/>
            <a:r>
              <a:t>    order := domain.NewOrder(cmd.Items) // Domain Logic</a:t>
            </a:r>
            <a:br/>
            <a:r>
              <a:t>    uc.repo.Save(order)                 // Persist Aggregate</a:t>
            </a:r>
            <a:br/>
            <a:r>
              <a:t>    return nil</a:t>
            </a:r>
            <a:br/>
            <a:r>
              <a:t>}</a:t>
            </a:r>
            <a:br/>
            <a:br/>
            <a:r>
              <a:t>// 3. Infrastructure Layer</a:t>
            </a:r>
            <a:br/>
            <a:r>
              <a:t>type PostgresOrderRepository struct {} // Implementation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Microservices + Event-Driven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Decoupling services using Async Messaging (Kafka/RabbitMQ).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48840"/>
            <a:ext cx="8229600" cy="3977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000">
                <a:solidFill>
                  <a:srgbClr val="323232"/>
                </a:solidFill>
                <a:latin typeface="Consolas"/>
              </a:defRPr>
            </a:pPr>
            <a:r>
              <a:t>// Event-Driven Microservices Integration</a:t>
            </a:r>
            <a:br/>
            <a:br/>
            <a:r>
              <a:t>// Service A: Order Service</a:t>
            </a:r>
            <a:br/>
            <a:r>
              <a:t>func (s *OrderService) CreateOrder(order Order) {</a:t>
            </a:r>
            <a:br/>
            <a:r>
              <a:t>    repo.Save(order)</a:t>
            </a:r>
            <a:br/>
            <a:r>
              <a:t>    // Publish Event (Decoupled)</a:t>
            </a:r>
            <a:br/>
            <a:r>
              <a:t>    publisher.Publish("order.created", OrderCreatedEvent{...})</a:t>
            </a:r>
            <a:br/>
            <a:r>
              <a:t>}</a:t>
            </a:r>
            <a:br/>
            <a:br/>
            <a:r>
              <a:t>// Service B: Inventory Service</a:t>
            </a:r>
            <a:br/>
            <a:r>
              <a:t>func (s *InventoryService) HandleOrderCreated(event Event) {</a:t>
            </a:r>
            <a:br/>
            <a:r>
              <a:t>    // React to event</a:t>
            </a:r>
            <a:br/>
            <a:r>
              <a:t>    s.reserveStock(event.Items)</a:t>
            </a:r>
            <a:br/>
            <a:r>
              <a:t>    // Publish result</a:t>
            </a:r>
            <a:br/>
            <a:r>
              <a:t>    publisher.Publish("inventory.reserved", ...)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SOLID Principles + GoF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Design Patterns are practical implementations of SOLID principles.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48840"/>
            <a:ext cx="8229600" cy="3977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000">
                <a:solidFill>
                  <a:srgbClr val="323232"/>
                </a:solidFill>
                <a:latin typeface="Consolas"/>
              </a:defRPr>
            </a:pPr>
            <a:r>
              <a:t>// Strategy Pattern implements Open/Closed Principle</a:t>
            </a:r>
            <a:br/>
            <a:r>
              <a:t>type PaymentStrategy interface { Process(amount float64) }</a:t>
            </a:r>
            <a:br/>
            <a:br/>
            <a:r>
              <a:t>type CreditCard struct {} // Strategy 1</a:t>
            </a:r>
            <a:br/>
            <a:r>
              <a:t>type PayPal struct {}     // Strategy 2</a:t>
            </a:r>
            <a:br/>
            <a:br/>
            <a:r>
              <a:t>// Open for extension (add Crypto), Closed for modification</a:t>
            </a:r>
            <a:br/>
            <a:r>
              <a:t>func ProcessPayment(s PaymentStrategy, amt float64) {</a:t>
            </a:r>
            <a:br/>
            <a:r>
              <a:t>    s.Process(amt)</a:t>
            </a:r>
            <a:br/>
            <a:r>
              <a:t>}</a:t>
            </a:r>
            <a:br/>
            <a:br/>
            <a:r>
              <a:t>// Factory Pattern implements Dependency Inversion</a:t>
            </a:r>
            <a:br/>
            <a:r>
              <a:t>// Decorator Pattern implements Single Responsibility</a:t>
            </a:r>
            <a:br/>
            <a:r>
              <a:t>// Observer Pattern implements Interface Segregation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Integration: Gateway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Unified entry point, Aggregation, Authentication, and Rate Limiting.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48840"/>
            <a:ext cx="8229600" cy="3977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000">
                <a:solidFill>
                  <a:srgbClr val="323232"/>
                </a:solidFill>
                <a:latin typeface="Consolas"/>
              </a:defRPr>
            </a:pPr>
            <a:r>
              <a:t>// API Gateway Pattern</a:t>
            </a:r>
            <a:br/>
            <a:r>
              <a:t>func (g *APIGateway) GetUserDashboard(userID string) (*Dashboard, error) {</a:t>
            </a:r>
            <a:br/>
            <a:r>
              <a:t>    var wg sync.WaitGroup</a:t>
            </a:r>
            <a:br/>
            <a:r>
              <a:t>    </a:t>
            </a:r>
            <a:br/>
            <a:r>
              <a:t>    // Parallel Calls to Microservices</a:t>
            </a:r>
            <a:br/>
            <a:r>
              <a:t>    go func() { user = userService.GetUser(userID) }()</a:t>
            </a:r>
            <a:br/>
            <a:r>
              <a:t>    go func() { orders = orderService.GetOrders(userID) }()</a:t>
            </a:r>
            <a:br/>
            <a:r>
              <a:t>    </a:t>
            </a:r>
            <a:br/>
            <a:r>
              <a:t>    wg.Wait()</a:t>
            </a:r>
            <a:br/>
            <a:r>
              <a:t>    </a:t>
            </a:r>
            <a:br/>
            <a:r>
              <a:t>    // Aggregation</a:t>
            </a:r>
            <a:br/>
            <a:r>
              <a:t>    return &amp;Dashboard{User: user, Orders: orders}, nil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Integration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Handling distributed data consistency and integration.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48840"/>
            <a:ext cx="8229600" cy="3977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000">
                <a:solidFill>
                  <a:srgbClr val="323232"/>
                </a:solidFill>
                <a:latin typeface="Consolas"/>
              </a:defRPr>
            </a:pPr>
            <a:r>
              <a:t>// Data Integration Strategies</a:t>
            </a:r>
            <a:br/>
            <a:br/>
            <a:r>
              <a:t>// 1. Database per Service (Preferred)</a:t>
            </a:r>
            <a:br/>
            <a:r>
              <a:t>// Each service owns its schema. No shared tables.</a:t>
            </a:r>
            <a:br/>
            <a:br/>
            <a:r>
              <a:t>// 2. CQRS (Command Query Responsibility Segregation)</a:t>
            </a:r>
            <a:br/>
            <a:r>
              <a:t>// Write to Command DB -&gt; Event -&gt; Sync to Read DB (Optimized)</a:t>
            </a:r>
            <a:br/>
            <a:br/>
            <a:r>
              <a:t>// 3. Change Data Capture (CDC)</a:t>
            </a:r>
            <a:br/>
            <a:r>
              <a:t>// DB Log -&gt; Kafka -&gt; Downstream Services</a:t>
            </a:r>
            <a:br/>
            <a:br/>
            <a:r>
              <a:t>// 4. Saga Pattern (Distributed Transactions)</a:t>
            </a:r>
            <a:br/>
            <a:r>
              <a:t>// Local Tx Service A -&gt; Event -&gt; Local Tx Service B -&gt; ...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Integration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Contract Testing, Component Testing, and E2E Testing.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48840"/>
            <a:ext cx="8229600" cy="3977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000">
                <a:solidFill>
                  <a:srgbClr val="323232"/>
                </a:solidFill>
                <a:latin typeface="Consolas"/>
              </a:defRPr>
            </a:pPr>
            <a:r>
              <a:t>// Integrated Testing Strategy</a:t>
            </a:r>
            <a:br/>
            <a:br/>
            <a:r>
              <a:t>// 1. Contract Testing (Pact)</a:t>
            </a:r>
            <a:br/>
            <a:r>
              <a:t>// Verify API contracts between Provider and Consumer</a:t>
            </a:r>
            <a:br/>
            <a:br/>
            <a:r>
              <a:t>// 2. Integration Testing (TestContainers)</a:t>
            </a:r>
            <a:br/>
            <a:r>
              <a:t>func TestEndToEndFlow(t *testing.T) {</a:t>
            </a:r>
            <a:br/>
            <a:r>
              <a:t>    // Spin up Postgres, Kafka via Docker</a:t>
            </a:r>
            <a:br/>
            <a:r>
              <a:t>    postgres := testcontainers.Run("postgres:14")</a:t>
            </a:r>
            <a:br/>
            <a:r>
              <a:t>    kafka := testcontainers.Run("confluentinc/cp-kafka")</a:t>
            </a:r>
            <a:br/>
            <a:r>
              <a:t>    </a:t>
            </a:r>
            <a:br/>
            <a:r>
              <a:t>    // Run Order Flow</a:t>
            </a:r>
            <a:br/>
            <a:r>
              <a:t>    service.CreateOrder(...)</a:t>
            </a:r>
            <a:br/>
            <a:r>
              <a:t>    </a:t>
            </a:r>
            <a:br/>
            <a:r>
              <a:t>    // Verify Side Effects</a:t>
            </a:r>
            <a:br/>
            <a:r>
              <a:t>    assert.True(kafka.HasMessage("order.created"))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DevOps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000">
                <a:solidFill>
                  <a:srgbClr val="323232"/>
                </a:solidFill>
                <a:latin typeface="Consolas"/>
              </a:defRPr>
            </a:pPr>
            <a:r>
              <a:t>// DevOps Integration Patterns</a:t>
            </a:r>
            <a:br/>
            <a:br/>
            <a:r>
              <a:t>// 1. CI/CD Pipeline</a:t>
            </a:r>
            <a:br/>
            <a:r>
              <a:t>// Build -&gt; Test -&gt; Scan -&gt; Push Image -&gt; Deploy</a:t>
            </a:r>
            <a:br/>
            <a:br/>
            <a:r>
              <a:t>// 2. Infrastructure as Code (Terraform/Ansible)</a:t>
            </a:r>
            <a:br/>
            <a:r>
              <a:t>// Provision Resources -&gt; Configure Environment</a:t>
            </a:r>
            <a:br/>
            <a:br/>
            <a:r>
              <a:t>// 3. GitOps (ArgoCD)</a:t>
            </a:r>
            <a:br/>
            <a:r>
              <a:t>// Git Commit -&gt; Sync -&gt; Kubernetes Cluster Update</a:t>
            </a:r>
            <a:br/>
            <a:br/>
            <a:r>
              <a:t>// 4. Observability (Prometheus/Grafana/Jaeger)</a:t>
            </a:r>
            <a:br/>
            <a:r>
              <a:t>// Metrics, Logs, Traces integrated into platform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Case Study: E-Commerce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Architecture: Microservices + DDD + Event-Driven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Integration Points:</a:t>
            </a:r>
          </a:p>
          <a:p>
            <a:pPr lvl="1">
              <a:defRPr sz="1800"/>
            </a:pPr>
            <a:r>
              <a:t>- User Journey: API Gateway -&gt; Services -&gt; Saga Pattern</a:t>
            </a:r>
          </a:p>
          <a:p>
            <a:pPr lvl="1">
              <a:defRPr sz="1800"/>
            </a:pPr>
            <a:r>
              <a:t>- Data: DB per Service + CDC + Data Lake</a:t>
            </a:r>
          </a:p>
          <a:p>
            <a:pPr lvl="1">
              <a:defRPr sz="1800"/>
            </a:pPr>
            <a:r>
              <a:t>- Analytics: Events -&gt; ClickHouse/BigQuery</a:t>
            </a:r>
          </a:p>
          <a:p>
            <a:pPr lvl="1">
              <a:defRPr sz="1800"/>
            </a:pPr>
            <a:r>
              <a:t>- Search: Products -&gt; Elasticsearch Sync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Results:</a:t>
            </a:r>
          </a:p>
          <a:p>
            <a:pPr lvl="1">
              <a:defRPr sz="1800"/>
            </a:pPr>
            <a:r>
              <a:t>✅ High Scalability &amp; Reliability</a:t>
            </a:r>
          </a:p>
          <a:p>
            <a:pPr lvl="1">
              <a:defRPr sz="1800"/>
            </a:pPr>
            <a:r>
              <a:t>✅ Real-time Business Insights</a:t>
            </a:r>
          </a:p>
          <a:p>
            <a:pPr lvl="1">
              <a:defRPr sz="1800"/>
            </a:pPr>
            <a:r>
              <a:t>✅ Independent Team Velocity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Q&amp;A Session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Key Takeaway:</a:t>
            </a:r>
          </a:p>
          <a:p>
            <a:pPr>
              <a:defRPr sz="1800"/>
            </a:pPr>
            <a:r>
              <a:t>"The true power emerges when patterns, principles, and practices work in harmony."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Presenter: Dong Tran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