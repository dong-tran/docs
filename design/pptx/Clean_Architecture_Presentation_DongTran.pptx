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Clean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Dependency Rule and Building Maintainable Systems</a:t>
            </a:r>
          </a:p>
          <a:p/>
          <a:p>
            <a:r>
              <a:t>Presenter: Dong Tran</a:t>
            </a:r>
          </a:p>
          <a:p>
            <a:r>
              <a:t>Date: November 20, 2025</a:t>
            </a:r>
          </a:p>
          <a:p/>
          <a:p>
            <a:r>
              <a:t>"The goal of software architecture is to minimize the human resources required to build and maintain the required system."</a:t>
            </a:r>
          </a:p>
          <a:p>
            <a:r>
              <a:t>— Robert C. Martin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The Problems We're Solving</a:t>
            </a:r>
          </a:p>
          <a:p>
            <a:pPr>
              <a:defRPr sz="1800"/>
            </a:pPr>
            <a:r>
              <a:t>2. What is Clean Architecture?</a:t>
            </a:r>
          </a:p>
          <a:p>
            <a:pPr>
              <a:defRPr sz="1800"/>
            </a:pPr>
            <a:r>
              <a:t>3. The Dependency Rule</a:t>
            </a:r>
          </a:p>
          <a:p>
            <a:pPr>
              <a:defRPr sz="1800"/>
            </a:pPr>
            <a:r>
              <a:t>4. The Four Layers</a:t>
            </a:r>
          </a:p>
          <a:p>
            <a:pPr>
              <a:defRPr sz="1800"/>
            </a:pPr>
            <a:r>
              <a:t>5. Implementation in Go</a:t>
            </a:r>
          </a:p>
          <a:p>
            <a:pPr>
              <a:defRPr sz="1800"/>
            </a:pPr>
            <a:r>
              <a:t>6. Real-World Example: Task Management System</a:t>
            </a:r>
          </a:p>
          <a:p>
            <a:pPr>
              <a:defRPr sz="1800"/>
            </a:pPr>
            <a:r>
              <a:t>7. Testing Strategies</a:t>
            </a:r>
          </a:p>
          <a:p>
            <a:pPr>
              <a:defRPr sz="1800"/>
            </a:pPr>
            <a:r>
              <a:t>8. Clean Architecture vs Other Patterns</a:t>
            </a:r>
          </a:p>
          <a:p>
            <a:pPr>
              <a:defRPr sz="1800"/>
            </a:pPr>
            <a:r>
              <a:t>9. Best Practices &amp; Anti-Patterns</a:t>
            </a:r>
          </a:p>
          <a:p>
            <a:pPr>
              <a:defRPr sz="1800"/>
            </a:pPr>
            <a:r>
              <a:t>10. Migration Strategy</a:t>
            </a:r>
          </a:p>
          <a:p>
            <a:pPr>
              <a:defRPr sz="1800"/>
            </a:pPr>
            <a:r>
              <a:t>11.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Problems We're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Common Architecture Pain Points:</a:t>
            </a:r>
          </a:p>
          <a:p>
            <a:pPr lvl="1">
              <a:defRPr sz="1800"/>
            </a:pPr>
            <a:r>
              <a:t>🔥 Framework Lock-in - Married to specific frameworks</a:t>
            </a:r>
          </a:p>
          <a:p>
            <a:pPr lvl="1">
              <a:defRPr sz="1800"/>
            </a:pPr>
            <a:r>
              <a:t>🔥 Database Coupling - Business logic mixed with SQL</a:t>
            </a:r>
          </a:p>
          <a:p>
            <a:pPr lvl="1">
              <a:defRPr sz="1800"/>
            </a:pPr>
            <a:r>
              <a:t>🔥 Testing Nightmare - Can't test without the database</a:t>
            </a:r>
          </a:p>
          <a:p>
            <a:pPr lvl="1">
              <a:defRPr sz="1800"/>
            </a:pPr>
            <a:r>
              <a:t>🔥 Rigid Systems - Hard to add new features</a:t>
            </a:r>
          </a:p>
          <a:p>
            <a:pPr lvl="1">
              <a:defRPr sz="1800"/>
            </a:pPr>
            <a:r>
              <a:t>🔥 Technical Debt - Changes ripple through entire system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Cost:</a:t>
            </a:r>
          </a:p>
          <a:p>
            <a:pPr lvl="1">
              <a:defRPr sz="1800"/>
            </a:pPr>
            <a:r>
              <a:t>- 70% of software cost is maintenance</a:t>
            </a:r>
          </a:p>
          <a:p>
            <a:pPr lvl="1">
              <a:defRPr sz="1800"/>
            </a:pPr>
            <a:r>
              <a:t>- 60% of maintenance is understanding existing code</a:t>
            </a:r>
          </a:p>
          <a:p>
            <a:pPr lvl="1">
              <a:defRPr sz="1800"/>
            </a:pPr>
            <a:r>
              <a:t>- Simple changes take weeks instead of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Clean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</a:t>
            </a:r>
          </a:p>
          <a:p>
            <a:pPr lvl="1">
              <a:defRPr sz="1800"/>
            </a:pPr>
            <a:r>
              <a:t>An architecture pattern that separates concerns through well-defined layers with a strict dependency rule.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Created by Robert C. Martin (Uncle Bob) in 2012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Core Principles:</a:t>
            </a:r>
          </a:p>
          <a:p>
            <a:pPr lvl="1">
              <a:defRPr sz="1800"/>
            </a:pPr>
            <a:r>
              <a:t>1. Independent of Frameworks</a:t>
            </a:r>
          </a:p>
          <a:p>
            <a:pPr lvl="1">
              <a:defRPr sz="1800"/>
            </a:pPr>
            <a:r>
              <a:t>2. Testable (Business rules tested without UI/DB)</a:t>
            </a:r>
          </a:p>
          <a:p>
            <a:pPr lvl="1">
              <a:defRPr sz="1800"/>
            </a:pPr>
            <a:r>
              <a:t>3. Independent of UI</a:t>
            </a:r>
          </a:p>
          <a:p>
            <a:pPr lvl="1">
              <a:defRPr sz="1800"/>
            </a:pPr>
            <a:r>
              <a:t>4. Independent of Database</a:t>
            </a:r>
          </a:p>
          <a:p>
            <a:pPr lvl="1">
              <a:defRPr sz="1800"/>
            </a:pPr>
            <a:r>
              <a:t>5. Independent of External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Dependency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The Golden Rule: Source code dependencies must point only inward, toward higher-level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Entities (Core)             │ ← Most Stable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Use Cases                   │ ← Business Rules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Interface Adapters              │ ← Translation Layer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Frameworks &amp; Drivers             │ ← Most Volatile</a:t>
            </a:r>
            <a:br/>
            <a:r>
              <a:t>└─────────────────────────────────────┘</a:t>
            </a:r>
            <a:br/>
            <a:r>
              <a:t>        ↑                    ↑</a:t>
            </a:r>
            <a:br/>
            <a:r>
              <a:t>    Dependencies        Stability</a:t>
            </a:r>
            <a:br/>
            <a:r>
              <a:t>    Point Inward       Increases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1: Entities (Enterprise Business 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Core business objects, pure logic, no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Entity - Pure business logic</a:t>
            </a:r>
            <a:br/>
            <a:r>
              <a:t>type Task struct {</a:t>
            </a:r>
            <a:br/>
            <a:r>
              <a:t>    ID          string</a:t>
            </a:r>
            <a:br/>
            <a:r>
              <a:t>    Title       string</a:t>
            </a:r>
            <a:br/>
            <a:r>
              <a:t>    Status      TaskStatus</a:t>
            </a:r>
            <a:br/>
            <a:r>
              <a:t>    DueDate     time.Time</a:t>
            </a:r>
            <a:br/>
            <a:r>
              <a:t>}</a:t>
            </a:r>
            <a:br/>
            <a:br/>
            <a:r>
              <a:t>func (t *Task) IsOverdue() bool {</a:t>
            </a:r>
            <a:br/>
            <a:r>
              <a:t>    return t.Status != Completed &amp;&amp; time.Now().After(t.DueDate)</a:t>
            </a:r>
            <a:br/>
            <a:r>
              <a:t>}</a:t>
            </a:r>
            <a:br/>
            <a:br/>
            <a:r>
              <a:t>func (t *Task) CanBeAssignedTo(user User) bool {</a:t>
            </a:r>
            <a:br/>
            <a:r>
              <a:t>    return user.HasPermission(PermissionAssignTask) &amp;&amp; t.Status == Open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2: Use Cases (Application Business 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Orchestrate data flow, application-specific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Use Case - Application business logic</a:t>
            </a:r>
            <a:br/>
            <a:r>
              <a:t>type CreateTaskUseCase struct {</a:t>
            </a:r>
            <a:br/>
            <a:r>
              <a:t>    taskRepo TaskRepository</a:t>
            </a:r>
            <a:br/>
            <a:r>
              <a:t>    userRepo UserRepository</a:t>
            </a:r>
            <a:br/>
            <a:r>
              <a:t>    notifier Notifier</a:t>
            </a:r>
            <a:br/>
            <a:r>
              <a:t>}</a:t>
            </a:r>
            <a:br/>
            <a:br/>
            <a:r>
              <a:t>func (uc *CreateTaskUseCase) Execute(ctx context.Context, input CreateTaskInput) (*Task, error) {</a:t>
            </a:r>
            <a:br/>
            <a:r>
              <a:t>    // Validate input</a:t>
            </a:r>
            <a:br/>
            <a:r>
              <a:t>    if err := uc.validate(input); err != nil { return nil, err }</a:t>
            </a:r>
            <a:br/>
            <a:r>
              <a:t>    </a:t>
            </a:r>
            <a:br/>
            <a:r>
              <a:t>    // Create entity</a:t>
            </a:r>
            <a:br/>
            <a:r>
              <a:t>    task := &amp;Task{Title: input.Title, Status: Open}</a:t>
            </a:r>
            <a:br/>
            <a:r>
              <a:t>    </a:t>
            </a:r>
            <a:br/>
            <a:r>
              <a:t>    // Business rule check</a:t>
            </a:r>
            <a:br/>
            <a:r>
              <a:t>    if !task.CanBeAssignedTo(assignee) { return nil, ErrCannotAssign }</a:t>
            </a:r>
            <a:br/>
            <a:r>
              <a:t>    </a:t>
            </a:r>
            <a:br/>
            <a:r>
              <a:t>    // Save to repository</a:t>
            </a:r>
            <a:br/>
            <a:r>
              <a:t>    uc.taskRepo.Save(ctx, task)</a:t>
            </a:r>
            <a:br/>
            <a:r>
              <a:t>    </a:t>
            </a:r>
            <a:br/>
            <a:r>
              <a:t>    return task,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3: Interface Adapters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Convert data between use cases and external systems (Controllers, Presenters).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HTTP Controller - Interface Adapter</a:t>
            </a:r>
            <a:br/>
            <a:r>
              <a:t>type TaskController struct {</a:t>
            </a:r>
            <a:br/>
            <a:r>
              <a:t>    createTask *CreateTaskUseCase</a:t>
            </a:r>
            <a:br/>
            <a:r>
              <a:t>}</a:t>
            </a:r>
            <a:br/>
            <a:br/>
            <a:r>
              <a:t>func (c *TaskController) CreateTask(ctx *gin.Context) {</a:t>
            </a:r>
            <a:br/>
            <a:r>
              <a:t>    var req CreateTaskRequest</a:t>
            </a:r>
            <a:br/>
            <a:r>
              <a:t>    if err := ctx.ShouldBindJSON(&amp;req); err != nil {</a:t>
            </a:r>
            <a:br/>
            <a:r>
              <a:t>        ctx.JSON(400, gin.H{"error": err.Error()})</a:t>
            </a:r>
            <a:br/>
            <a:r>
              <a:t>        return</a:t>
            </a:r>
            <a:br/>
            <a:r>
              <a:t>    }</a:t>
            </a:r>
            <a:br/>
            <a:r>
              <a:t>    </a:t>
            </a:r>
            <a:br/>
            <a:r>
              <a:t>    // Convert HTTP request to use case input</a:t>
            </a:r>
            <a:br/>
            <a:r>
              <a:t>    input := CreateTaskInput{Title: req.Title, AssigneeID: req.AssigneeID}</a:t>
            </a:r>
            <a:br/>
            <a:r>
              <a:t>    </a:t>
            </a:r>
            <a:br/>
            <a:r>
              <a:t>    // Execute use case</a:t>
            </a:r>
            <a:br/>
            <a:r>
              <a:t>    task, err := c.createTask.Execute(ctx, input)</a:t>
            </a:r>
            <a:br/>
            <a:r>
              <a:t>    </a:t>
            </a:r>
            <a:br/>
            <a:r>
              <a:t>    // Convert entity to HTTP response</a:t>
            </a:r>
            <a:br/>
            <a:r>
              <a:t>    ctx.JSON(201, c.toResponse(task))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4: Frameworks &amp;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Database, Web Frameworks, Tools. Most volatile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PostgreSQL Repository - Framework Layer</a:t>
            </a:r>
            <a:br/>
            <a:r>
              <a:t>type PostgresTaskRepository struct {</a:t>
            </a:r>
            <a:br/>
            <a:r>
              <a:t>    db *sql.DB</a:t>
            </a:r>
            <a:br/>
            <a:r>
              <a:t>}</a:t>
            </a:r>
            <a:br/>
            <a:br/>
            <a:r>
              <a:t>func (r *PostgresTaskRepository) Save(ctx context.Context, task *Task) error {</a:t>
            </a:r>
            <a:br/>
            <a:r>
              <a:t>    query := `</a:t>
            </a:r>
            <a:br/>
            <a:r>
              <a:t>        INSERT INTO tasks (id, title, status) VALUES ($1, $2, $3)</a:t>
            </a:r>
            <a:br/>
            <a:r>
              <a:t>        ON CONFLICT (id) DO UPDATE SET status = $3</a:t>
            </a:r>
            <a:br/>
            <a:r>
              <a:t>    `</a:t>
            </a:r>
            <a:br/>
            <a:r>
              <a:t>    _, err := r.db.ExecContext(ctx, query, task.ID, task.Title, task.Status)</a:t>
            </a:r>
            <a:br/>
            <a:r>
              <a:t>    return err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project/</a:t>
            </a:r>
            <a:br/>
            <a:r>
              <a:t>├── cmd/api/main.go                 # Entry point</a:t>
            </a:r>
            <a:br/>
            <a:r>
              <a:t>├── internal/</a:t>
            </a:r>
            <a:br/>
            <a:r>
              <a:t>│   ├── domain/                     # Layer 1: Entities</a:t>
            </a:r>
            <a:br/>
            <a:r>
              <a:t>│   │   ├── entity/ (task.go)</a:t>
            </a:r>
            <a:br/>
            <a:r>
              <a:t>│   │   └── valueobject/</a:t>
            </a:r>
            <a:br/>
            <a:r>
              <a:t>│   ├── usecase/                    # Layer 2: Use Cases</a:t>
            </a:r>
            <a:br/>
            <a:r>
              <a:t>│   │   ├── task/ (create.go)</a:t>
            </a:r>
            <a:br/>
            <a:r>
              <a:t>│   │   └── interfaces.go           # Repo interfaces</a:t>
            </a:r>
            <a:br/>
            <a:r>
              <a:t>│   ├── adapter/                    # Layer 3: Adapters</a:t>
            </a:r>
            <a:br/>
            <a:r>
              <a:t>│   │   ├── controller/ (http/task.go)</a:t>
            </a:r>
            <a:br/>
            <a:r>
              <a:t>│   │   └── presenter/</a:t>
            </a:r>
            <a:br/>
            <a:r>
              <a:t>│   └── infrastructure/             # Layer 4: Frameworks</a:t>
            </a:r>
            <a:br/>
            <a:r>
              <a:t>│       ├── persistence/ (postgres/)</a:t>
            </a:r>
            <a:br/>
            <a:r>
              <a:t>│       └── config/</a:t>
            </a:r>
            <a:br/>
            <a:r>
              <a:t>├── pkg/                            # Shared</a:t>
            </a:r>
            <a:br/>
            <a:r>
              <a:t>└── go.mod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 &amp; Wiring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Wiring it all together in main.go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func main() {</a:t>
            </a:r>
            <a:br/>
            <a:r>
              <a:t>    // Setup infrastructure (Layer 4)</a:t>
            </a:r>
            <a:br/>
            <a:r>
              <a:t>    db := setupDatabase()</a:t>
            </a:r>
            <a:br/>
            <a:r>
              <a:t>    taskRepo := postgres.NewTaskRepository(db)</a:t>
            </a:r>
            <a:br/>
            <a:r>
              <a:t>    </a:t>
            </a:r>
            <a:br/>
            <a:r>
              <a:t>    // Initialize use cases (Layer 2)</a:t>
            </a:r>
            <a:br/>
            <a:r>
              <a:t>    createTaskUC := task.NewCreateTaskUseCase(taskRepo, setupNotifier())</a:t>
            </a:r>
            <a:br/>
            <a:r>
              <a:t>    </a:t>
            </a:r>
            <a:br/>
            <a:r>
              <a:t>    // Initialize controllers (Layer 3)</a:t>
            </a:r>
            <a:br/>
            <a:r>
              <a:t>    taskController := http.NewTaskController(createTaskUC)</a:t>
            </a:r>
            <a:br/>
            <a:r>
              <a:t>    </a:t>
            </a:r>
            <a:br/>
            <a:r>
              <a:t>    // Setup router (Layer 4)</a:t>
            </a:r>
            <a:br/>
            <a:r>
              <a:t>    router := gin.Default()</a:t>
            </a:r>
            <a:br/>
            <a:r>
              <a:t>    router.POST("/tasks", taskController.CreateTask)</a:t>
            </a:r>
            <a:br/>
            <a:r>
              <a:t>    </a:t>
            </a:r>
            <a:br/>
            <a:r>
              <a:t>    router.Run(":8080")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Interfaces define the contract needed by Use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internal/usecase/interfaces.go</a:t>
            </a:r>
            <a:br/>
            <a:r>
              <a:t>// Repository interfaces belong to use case layer</a:t>
            </a:r>
            <a:br/>
            <a:r>
              <a:t>// Implementation belongs to infrastructure layer</a:t>
            </a:r>
            <a:br/>
            <a:br/>
            <a:r>
              <a:t>type TaskRepository interface {</a:t>
            </a:r>
            <a:br/>
            <a:r>
              <a:t>    Save(ctx context.Context, task *entity.Task) error</a:t>
            </a:r>
            <a:br/>
            <a:r>
              <a:t>    FindByID(ctx context.Context, id string) (*entity.Task, error)</a:t>
            </a:r>
            <a:br/>
            <a:r>
              <a:t>    FindAll(ctx context.Context, filter TaskFilter) ([]*entity.Task, error)</a:t>
            </a:r>
            <a:br/>
            <a:r>
              <a:t>}</a:t>
            </a:r>
            <a:br/>
            <a:br/>
            <a:r>
              <a:t>type Notifier interface {</a:t>
            </a:r>
            <a:br/>
            <a:r>
              <a:t>    NotifyTaskCreated(task *entity.Task) error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Testing Pyramid: Many Unit tests, some Integration, few E2E.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Unit Testing Use Cases with Mocks</a:t>
            </a:r>
            <a:br/>
            <a:r>
              <a:t>func TestCreateTaskUseCase_Execute(t *testing.T) {</a:t>
            </a:r>
            <a:br/>
            <a:r>
              <a:t>    // Arrange</a:t>
            </a:r>
            <a:br/>
            <a:r>
              <a:t>    mockRepo := new(MockTaskRepository)</a:t>
            </a:r>
            <a:br/>
            <a:r>
              <a:t>    useCase := NewCreateTaskUseCase(mockRepo)</a:t>
            </a:r>
            <a:br/>
            <a:r>
              <a:t>    </a:t>
            </a:r>
            <a:br/>
            <a:r>
              <a:t>    mockRepo.On("Save", mock.Anything).Return(nil)</a:t>
            </a:r>
            <a:br/>
            <a:r>
              <a:t>    </a:t>
            </a:r>
            <a:br/>
            <a:r>
              <a:t>    // Act</a:t>
            </a:r>
            <a:br/>
            <a:r>
              <a:t>    task, err := useCase.Execute(ctx, input)</a:t>
            </a:r>
            <a:br/>
            <a:r>
              <a:t>    </a:t>
            </a:r>
            <a:br/>
            <a:r>
              <a:t>    // Assert</a:t>
            </a:r>
            <a:br/>
            <a:r>
              <a:t>    assert.NoError(t, err)</a:t>
            </a:r>
            <a:br/>
            <a:r>
              <a:t>    assert.Equal(t, "Test Task", task.Title)</a:t>
            </a:r>
            <a:br/>
            <a:r>
              <a:t>    mockRepo.AssertExpectations(t)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Architecture vs Other Patterns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Clean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Hexagonal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Traditional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Core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Dependency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Ports &amp; Adapters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Layers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 concentric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(Domain/App/Infra)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3-4 horizontal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Inward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Inward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Top to bottom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Large/Complex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Simple CRUD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Task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type Task struct {</a:t>
            </a:r>
            <a:br/>
            <a:r>
              <a:t>    ID          string</a:t>
            </a:r>
            <a:br/>
            <a:r>
              <a:t>    Status      TaskStatus</a:t>
            </a:r>
            <a:br/>
            <a:r>
              <a:t>    CompletedAt *time.Time</a:t>
            </a:r>
            <a:br/>
            <a:r>
              <a:t>}</a:t>
            </a:r>
            <a:br/>
            <a:br/>
            <a:r>
              <a:t>// Business rules encapsulated in Entity</a:t>
            </a:r>
            <a:br/>
            <a:r>
              <a:t>func (t *Task) Complete() error {</a:t>
            </a:r>
            <a:br/>
            <a:r>
              <a:t>    if t.Status == Cancelled {</a:t>
            </a:r>
            <a:br/>
            <a:r>
              <a:t>        return errors.New("cannot complete cancelled task")</a:t>
            </a:r>
            <a:br/>
            <a:r>
              <a:t>    }</a:t>
            </a:r>
            <a:br/>
            <a:r>
              <a:t>    </a:t>
            </a:r>
            <a:br/>
            <a:r>
              <a:t>    now := time.Now()</a:t>
            </a:r>
            <a:br/>
            <a:r>
              <a:t>    t.Status = Completed</a:t>
            </a:r>
            <a:br/>
            <a:r>
              <a:t>    t.CompletedAt = &amp;now</a:t>
            </a:r>
            <a:br/>
            <a:r>
              <a:t>    return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Phase 1: Identify Boundaries. Phase 2: Extract Domain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Current Monolith          →    Identify Layers</a:t>
            </a:r>
            <a:br/>
            <a:r>
              <a:t>┌──────────────┐               ┌──────────────┐</a:t>
            </a:r>
            <a:br/>
            <a:r>
              <a:t>│              │               │   UI/API     │</a:t>
            </a:r>
            <a:br/>
            <a:r>
              <a:t>│   Mixed      │               ├──────────────┤</a:t>
            </a:r>
            <a:br/>
            <a:r>
              <a:t>│   Concerns   │      →        │   Business   │</a:t>
            </a:r>
            <a:br/>
            <a:r>
              <a:t>│              │               ├──────────────┤</a:t>
            </a:r>
            <a:br/>
            <a:r>
              <a:t>│              │               │   Database   │</a:t>
            </a:r>
            <a:br/>
            <a:r>
              <a:t>└──────────────┘               └──────────────┘</a:t>
            </a:r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DO's:</a:t>
            </a:r>
          </a:p>
          <a:p>
            <a:pPr lvl="1">
              <a:defRPr sz="1800"/>
            </a:pPr>
            <a:r>
              <a:t>1. Keep Entities Pure (No framework tags)</a:t>
            </a:r>
          </a:p>
          <a:p>
            <a:pPr lvl="1">
              <a:defRPr sz="1800"/>
            </a:pPr>
            <a:r>
              <a:t>2. Use Dependency Injection</a:t>
            </a:r>
          </a:p>
          <a:p>
            <a:pPr lvl="1">
              <a:defRPr sz="1800"/>
            </a:pPr>
            <a:r>
              <a:t>3. Test from Inside Out (Entity -&gt; UseCase)</a:t>
            </a:r>
          </a:p>
          <a:p>
            <a:pPr lvl="1">
              <a:defRPr sz="1800"/>
            </a:pPr>
            <a:r>
              <a:t>4. Keep Use Cases Focused</a:t>
            </a:r>
          </a:p>
          <a:p>
            <a:pPr lvl="1">
              <a:defRPr sz="1800"/>
            </a:pPr>
            <a:r>
              <a:t>5. Version Your APIs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Example:</a:t>
            </a:r>
          </a:p>
          <a:p>
            <a:pPr lvl="1">
              <a:defRPr sz="1800"/>
            </a:pPr>
            <a:r>
              <a:t>func (uc *CreateUser) Execute(input Input) (*User, error) {</a:t>
            </a:r>
          </a:p>
          <a:p>
            <a:pPr lvl="2">
              <a:defRPr sz="1800"/>
            </a:pPr>
            <a:r>
              <a:t>// Clear, focused logic, independent of DB/UI</a:t>
            </a:r>
          </a:p>
          <a:p>
            <a:pPr lvl="1">
              <a:defRPr sz="1800"/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DON'Ts: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Don't Skip Layers</a:t>
            </a:r>
          </a:p>
          <a:p>
            <a:pPr lvl="1">
              <a:defRPr sz="1800"/>
            </a:pPr>
            <a:r>
              <a:t>- Bad: Controller -&gt; Repository (skips Use Case)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Don't Put Business Logic in Controllers</a:t>
            </a:r>
          </a:p>
          <a:p>
            <a:pPr lvl="1">
              <a:defRPr sz="1800"/>
            </a:pPr>
            <a:r>
              <a:t>- Bad: Validating due dates inside HTTP handler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Don't Create Anemic Entities</a:t>
            </a:r>
          </a:p>
          <a:p>
            <a:pPr lvl="1">
              <a:defRPr sz="1800"/>
            </a:pPr>
            <a:r>
              <a:t>- Bad: Entities being just data holders (structs with no methods)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Core Benefits:</a:t>
            </a:r>
          </a:p>
          <a:p>
            <a:pPr lvl="1">
              <a:defRPr sz="1800"/>
            </a:pPr>
            <a:r>
              <a:t>- Testability, Flexibility, Maintainability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Metrics:</a:t>
            </a:r>
          </a:p>
          <a:p>
            <a:pPr lvl="1">
              <a:defRPr sz="1800"/>
            </a:pPr>
            <a:r>
              <a:t>- 70% reduction in bug density</a:t>
            </a:r>
          </a:p>
          <a:p>
            <a:pPr lvl="1">
              <a:defRPr sz="1800"/>
            </a:pPr>
            <a:r>
              <a:t>- 90% code coverage achievable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⚠️ When to Use:</a:t>
            </a:r>
          </a:p>
          <a:p>
            <a:pPr lvl="1">
              <a:defRPr sz="1800"/>
            </a:pPr>
            <a:r>
              <a:t>- Complex business logic, Long-lived projects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"Architecture is about intent" - The architecture should scream what the system does.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Next Steps:</a:t>
            </a:r>
          </a:p>
          <a:p>
            <a:pPr lvl="1">
              <a:defRPr sz="1800"/>
            </a:pPr>
            <a:r>
              <a:t>- Start a Pilot Project</a:t>
            </a:r>
          </a:p>
          <a:p>
            <a:pPr lvl="1">
              <a:defRPr sz="1800"/>
            </a:pPr>
            <a:r>
              <a:t>- Code Review focusing on separation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Resources:</a:t>
            </a:r>
          </a:p>
          <a:p>
            <a:pPr lvl="1">
              <a:defRPr sz="1800"/>
            </a:pPr>
            <a:r>
              <a:t>- 'Clean Architecture' by Robert C. Martin</a:t>
            </a:r>
          </a:p>
          <a:p>
            <a:pPr lvl="1">
              <a:defRPr sz="1800"/>
            </a:pPr>
            <a:r>
              <a:t>- github.com/dong-tran/clean-architecture-go-example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